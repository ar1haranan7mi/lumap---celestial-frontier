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 id="257" r:id="rId4"/>
    <p:sldId id="258" r:id="rId5"/>
    <p:sldId id="259" r:id="rId6"/>
    <p:sldId id="260" r:id="rId7"/>
    <p:sldId id="261" r:id="rId8"/>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aching script"/>
          <p:cNvSpPr txBox="1"/>
          <p:nvPr>
            <p:ph type="body" idx="1"/>
          </p:nvPr>
        </p:nvSpPr>
        <p:spPr>
          <a:xfrm>
            <a:off x="514350" y="952500"/>
            <a:ext cx="5829300" cy="7810500"/>
          </a:xfrm>
          <a:prstGeom prst="rect">
            <a:avLst/>
          </a:prstGeom>
          <a:noFill/>
          <a:ln>
            <a:noFill/>
          </a:ln>
        </p:spPr>
        <p:txBody>
          <a:bodyPr wrap="square" lIns="120000" tIns="50000" rIns="120000" bIns="50000">
            <a:normAutofit/>
          </a:bodyPr>
          <a:lstStyle/>
          <a:p>
            <a:pPr>
              <a:spcAft>
                <a:spcPts val="1200"/>
              </a:spcAft>
            </a:pPr>
            <a:r>
              <a:rPr lang="en-US" sz="1400" b="0">
                <a:solidFill>
                  <a:srgbClr val="172036"/>
                </a:solidFill>
                <a:latin typeface="Arial"/>
                <a:ea typeface="PingFang SC"/>
              </a:rPr>
              <a:t>Imagine that your pothos grows a new vine while the amount of soil in its pot barely changes. Where did the new leaf material come from? Surprisingly, most of its dry mass came from carbon dioxide in the air, not from soil. Water also contributes material, while light provides energy rather than matter. Photosynthesis is the process that captures light energy and uses it to build energy-rich carbon compounds. By the end, you will be able to follow carbon dioxide, water, and light into a leaf, explain how glucose is produced, and predict what happens when light or carbon dioxide is removed.</a:t>
            </a:r>
            <a:endParaRPr lang="en-US" sz="1400"/>
          </a:p>
          <a:p>
            <a:pPr>
              <a:spcAft>
                <a:spcPts val="1200"/>
              </a:spcAft>
            </a:pPr>
            <a:r>
              <a:rPr lang="en-US" sz="1400" b="0">
                <a:solidFill>
                  <a:srgbClr val="172036"/>
                </a:solidFill>
                <a:latin typeface="Arial"/>
                <a:ea typeface="PingFang SC"/>
              </a:rPr>
              <a:t>SOURCES</a:t>
            </a:r>
            <a:endParaRPr lang="en-US" sz="1400"/>
          </a:p>
          <a:p>
            <a:pPr>
              <a:spcAft>
                <a:spcPts val="1200"/>
              </a:spcAft>
            </a:pPr>
            <a:r>
              <a:rPr lang="en-US" sz="1400" b="0">
                <a:solidFill>
                  <a:srgbClr val="172036"/>
                </a:solidFill>
                <a:latin typeface="Arial"/>
                <a:ea typeface="PingFang SC"/>
              </a:rPr>
              <a:t>光合作用: https://zh.wikipedia.org/wiki/%E5%85%89%E5%90%88%E4%BD%9C%E7%94%A8</a:t>
            </a:r>
            <a:endParaRPr lang="en-US" sz="1400"/>
          </a:p>
          <a:p>
            <a:pPr>
              <a:spcAft>
                <a:spcPts val="1200"/>
              </a:spcAft>
            </a:pPr>
            <a:r>
              <a:rPr lang="en-US" sz="1400" b="0">
                <a:solidFill>
                  <a:srgbClr val="172036"/>
                </a:solidFill>
                <a:latin typeface="Arial"/>
                <a:ea typeface="PingFang SC"/>
              </a:rPr>
              <a:t>光合作用中心: https://zh.wikipedia.org/wiki/%E5%85%89%E5%90%88%E4%BD%9C%E7%94%A8%E4%B8%AD%E5%BF%83</a:t>
            </a:r>
            <a:endParaRPr lang="en-US" sz="1400"/>
          </a:p>
          <a:p>
            <a:pPr>
              <a:spcAft>
                <a:spcPts val="1200"/>
              </a:spcAft>
            </a:pPr>
            <a:r>
              <a:rPr lang="en-US" sz="1400" b="0">
                <a:solidFill>
                  <a:srgbClr val="172036"/>
                </a:solidFill>
                <a:latin typeface="Arial"/>
                <a:ea typeface="PingFang SC"/>
              </a:rPr>
              <a:t>植物: https://zh.wikipedia.org/wiki/%E6%A4%8D%E7%89%A9</a:t>
            </a:r>
            <a:endParaRPr lang="en-US" sz="1400"/>
          </a:p>
          <a:p>
            <a:pPr>
              <a:spcAft>
                <a:spcPts val="1200"/>
              </a:spcAft>
            </a:pPr>
            <a:r>
              <a:rPr lang="en-US" sz="1400" b="0">
                <a:solidFill>
                  <a:srgbClr val="172036"/>
                </a:solidFill>
                <a:latin typeface="Arial"/>
                <a:ea typeface="PingFang SC"/>
              </a:rPr>
              <a:t>詳細說明光合作用的過程。 - 技術教學: https://tutorialspoint.tw/p-explain-the-photosynthesis-process-in-detail-p</a:t>
            </a:r>
            <a:endParaRPr lang="en-US" sz="1400"/>
          </a:p>
          <a:p>
            <a:pPr>
              <a:spcAft>
                <a:spcPts val="1200"/>
              </a:spcAft>
            </a:pPr>
            <a:r>
              <a:rPr lang="en-US" sz="1400" b="0">
                <a:solidFill>
                  <a:srgbClr val="172036"/>
                </a:solidFill>
                <a:latin typeface="Arial"/>
                <a:ea typeface="PingFang SC"/>
              </a:rPr>
              <a:t>光合作用教學影片：以這張光合作用示意圖的植物與剖面概念為視覺參考，呈現陽光照射葉片、二氧化碳從空氣進入葉片、水分由根部向上運輸，葉綠體內進行光合作用，最後產生氧氣釋放到空氣中並形 - YouTube: https://www.youtube.com/watch?v=6BCnBB60jBk</a:t>
            </a:r>
            <a:endParaRPr lang="en-US"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aching script"/>
          <p:cNvSpPr txBox="1"/>
          <p:nvPr>
            <p:ph type="body" idx="1"/>
          </p:nvPr>
        </p:nvSpPr>
        <p:spPr>
          <a:xfrm>
            <a:off x="514350" y="952500"/>
            <a:ext cx="5829300" cy="7810500"/>
          </a:xfrm>
          <a:prstGeom prst="rect">
            <a:avLst/>
          </a:prstGeom>
          <a:noFill/>
          <a:ln>
            <a:noFill/>
          </a:ln>
        </p:spPr>
        <p:txBody>
          <a:bodyPr wrap="square" lIns="120000" tIns="50000" rIns="120000" bIns="50000">
            <a:normAutofit/>
          </a:bodyPr>
          <a:lstStyle/>
          <a:p>
            <a:pPr>
              <a:spcAft>
                <a:spcPts val="1200"/>
              </a:spcAft>
            </a:pPr>
            <a:r>
              <a:rPr lang="en-US" sz="1400" b="0">
                <a:solidFill>
                  <a:srgbClr val="172036"/>
                </a:solidFill>
                <a:latin typeface="Arial"/>
                <a:ea typeface="PingFang SC"/>
              </a:rPr>
              <a:t>Carbon dioxide is an invisible gas whose molecules contain one carbon atom and two oxygen atoms. It enters a leaf through tiny adjustable openings called stomata. Water is absorbed by roots and transported to leaves. Inside many leaf cells are chloroplasts, small structures where photosynthesis occurs. Chlorophyll is not the whole chloroplast; it is a green pigment located within it. Chlorophyll absorbs mainly red and blue light and reflects much of the green light we see. The plant eventually makes glucose, a sugar containing stored chemical energy. Glucose can fuel cells or become starch, cellulose, and other materials used for growth.</a:t>
            </a:r>
            <a:endParaRPr lang="en-US" sz="1400"/>
          </a:p>
          <a:p>
            <a:pPr>
              <a:spcAft>
                <a:spcPts val="1200"/>
              </a:spcAft>
            </a:pPr>
            <a:r>
              <a:rPr lang="en-US" sz="1400" b="0">
                <a:solidFill>
                  <a:srgbClr val="172036"/>
                </a:solidFill>
                <a:latin typeface="Arial"/>
                <a:ea typeface="PingFang SC"/>
              </a:rPr>
              <a:t>SOURCES</a:t>
            </a:r>
            <a:endParaRPr lang="en-US" sz="1400"/>
          </a:p>
          <a:p>
            <a:pPr>
              <a:spcAft>
                <a:spcPts val="1200"/>
              </a:spcAft>
            </a:pPr>
            <a:r>
              <a:rPr lang="en-US" sz="1400" b="0">
                <a:solidFill>
                  <a:srgbClr val="172036"/>
                </a:solidFill>
                <a:latin typeface="Arial"/>
                <a:ea typeface="PingFang SC"/>
              </a:rPr>
              <a:t>光合作用: https://zh.wikipedia.org/wiki/%E5%85%89%E5%90%88%E4%BD%9C%E7%94%A8</a:t>
            </a:r>
            <a:endParaRPr lang="en-US" sz="1400"/>
          </a:p>
          <a:p>
            <a:pPr>
              <a:spcAft>
                <a:spcPts val="1200"/>
              </a:spcAft>
            </a:pPr>
            <a:r>
              <a:rPr lang="en-US" sz="1400" b="0">
                <a:solidFill>
                  <a:srgbClr val="172036"/>
                </a:solidFill>
                <a:latin typeface="Arial"/>
                <a:ea typeface="PingFang SC"/>
              </a:rPr>
              <a:t>光合作用中心: https://zh.wikipedia.org/wiki/%E5%85%89%E5%90%88%E4%BD%9C%E7%94%A8%E4%B8%AD%E5%BF%83</a:t>
            </a:r>
            <a:endParaRPr lang="en-US" sz="1400"/>
          </a:p>
          <a:p>
            <a:pPr>
              <a:spcAft>
                <a:spcPts val="1200"/>
              </a:spcAft>
            </a:pPr>
            <a:r>
              <a:rPr lang="en-US" sz="1400" b="0">
                <a:solidFill>
                  <a:srgbClr val="172036"/>
                </a:solidFill>
                <a:latin typeface="Arial"/>
                <a:ea typeface="PingFang SC"/>
              </a:rPr>
              <a:t>植物: https://zh.wikipedia.org/wiki/%E6%A4%8D%E7%89%A9</a:t>
            </a:r>
            <a:endParaRPr lang="en-US" sz="1400"/>
          </a:p>
          <a:p>
            <a:pPr>
              <a:spcAft>
                <a:spcPts val="1200"/>
              </a:spcAft>
            </a:pPr>
            <a:r>
              <a:rPr lang="en-US" sz="1400" b="0">
                <a:solidFill>
                  <a:srgbClr val="172036"/>
                </a:solidFill>
                <a:latin typeface="Arial"/>
                <a:ea typeface="PingFang SC"/>
              </a:rPr>
              <a:t>詳細說明光合作用的過程。 - 技術教學: https://tutorialspoint.tw/p-explain-the-photosynthesis-process-in-detail-p</a:t>
            </a:r>
            <a:endParaRPr lang="en-US" sz="1400"/>
          </a:p>
          <a:p>
            <a:pPr>
              <a:spcAft>
                <a:spcPts val="1200"/>
              </a:spcAft>
            </a:pPr>
            <a:r>
              <a:rPr lang="en-US" sz="1400" b="0">
                <a:solidFill>
                  <a:srgbClr val="172036"/>
                </a:solidFill>
                <a:latin typeface="Arial"/>
                <a:ea typeface="PingFang SC"/>
              </a:rPr>
              <a:t>光合作用教學影片：以這張光合作用示意圖的植物與剖面概念為視覺參考，呈現陽光照射葉片、二氧化碳從空氣進入葉片、水分由根部向上運輸，葉綠體內進行光合作用，最後產生氧氣釋放到空氣中並形 - YouTube: https://www.youtube.com/watch?v=6BCnBB60jBk</a:t>
            </a:r>
            <a:endParaRPr lang="en-US"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aching script"/>
          <p:cNvSpPr txBox="1"/>
          <p:nvPr>
            <p:ph type="body" idx="1"/>
          </p:nvPr>
        </p:nvSpPr>
        <p:spPr>
          <a:xfrm>
            <a:off x="514350" y="952500"/>
            <a:ext cx="5829300" cy="7810500"/>
          </a:xfrm>
          <a:prstGeom prst="rect">
            <a:avLst/>
          </a:prstGeom>
          <a:noFill/>
          <a:ln>
            <a:noFill/>
          </a:ln>
        </p:spPr>
        <p:txBody>
          <a:bodyPr wrap="square" lIns="120000" tIns="50000" rIns="120000" bIns="50000">
            <a:normAutofit/>
          </a:bodyPr>
          <a:lstStyle/>
          <a:p>
            <a:pPr>
              <a:spcAft>
                <a:spcPts val="1200"/>
              </a:spcAft>
            </a:pPr>
            <a:r>
              <a:rPr lang="en-US" sz="1400" b="0">
                <a:solidFill>
                  <a:srgbClr val="172036"/>
                </a:solidFill>
                <a:latin typeface="Arial"/>
                <a:ea typeface="PingFang SC"/>
              </a:rPr>
              <a:t>The first stage is called the light-dependent reactions because it directly requires light. In folded membranes inside chloroplasts, chlorophyll and reaction-center proteins absorb packets of light energy. That energy drives a chain of transfers, including the splitting of water. Oxygen formed from the water is released as a by-product. The reactions also make ATP and NADPH. Think of these as short-lived charged carriers: ATP carries usable energy, while NADPH carries energetic electrons and hydrogen. They are not glucose. Instead, they power the next stage. Therefore, if a plant enters darkness, this fresh supply of ATP and NADPH declines, limiting sugar production.</a:t>
            </a:r>
            <a:endParaRPr lang="en-US" sz="1400"/>
          </a:p>
          <a:p>
            <a:pPr>
              <a:spcAft>
                <a:spcPts val="1200"/>
              </a:spcAft>
            </a:pPr>
            <a:r>
              <a:rPr lang="en-US" sz="1400" b="0">
                <a:solidFill>
                  <a:srgbClr val="172036"/>
                </a:solidFill>
                <a:latin typeface="Arial"/>
                <a:ea typeface="PingFang SC"/>
              </a:rPr>
              <a:t>RETRIEVAL CHECK</a:t>
            </a:r>
            <a:endParaRPr lang="en-US" sz="1400"/>
          </a:p>
          <a:p>
            <a:pPr>
              <a:spcAft>
                <a:spcPts val="1200"/>
              </a:spcAft>
            </a:pPr>
            <a:r>
              <a:rPr lang="en-US" sz="1400" b="0">
                <a:solidFill>
                  <a:srgbClr val="172036"/>
                </a:solidFill>
                <a:latin typeface="Arial"/>
                <a:ea typeface="PingFang SC"/>
              </a:rPr>
              <a:t>A healthy leaf is placed in darkness while water and carbon dioxide remain available. What is the most direct initial effect?</a:t>
            </a:r>
            <a:endParaRPr lang="en-US" sz="1400"/>
          </a:p>
          <a:p>
            <a:pPr>
              <a:spcAft>
                <a:spcPts val="1200"/>
              </a:spcAft>
            </a:pPr>
            <a:r>
              <a:rPr lang="en-US" sz="1400" b="0">
                <a:solidFill>
                  <a:srgbClr val="172036"/>
                </a:solidFill>
                <a:latin typeface="Arial"/>
                <a:ea typeface="PingFang SC"/>
              </a:rPr>
              <a:t>a. The light-dependent reactions stop producing fresh ATP and NADPH</a:t>
            </a:r>
            <a:endParaRPr lang="en-US" sz="1400"/>
          </a:p>
          <a:p>
            <a:pPr>
              <a:spcAft>
                <a:spcPts val="1200"/>
              </a:spcAft>
            </a:pPr>
            <a:r>
              <a:rPr lang="en-US" sz="1400" b="0">
                <a:solidFill>
                  <a:srgbClr val="172036"/>
                </a:solidFill>
                <a:latin typeface="Arial"/>
                <a:ea typeface="PingFang SC"/>
              </a:rPr>
              <a:t>b. The roots immediately stop containing minerals</a:t>
            </a:r>
            <a:endParaRPr lang="en-US" sz="1400"/>
          </a:p>
          <a:p>
            <a:pPr>
              <a:spcAft>
                <a:spcPts val="1200"/>
              </a:spcAft>
            </a:pPr>
            <a:r>
              <a:rPr lang="en-US" sz="1400" b="0">
                <a:solidFill>
                  <a:srgbClr val="172036"/>
                </a:solidFill>
                <a:latin typeface="Arial"/>
                <a:ea typeface="PingFang SC"/>
              </a:rPr>
              <a:t>c. Carbon dioxide turns directly into oxygen</a:t>
            </a:r>
            <a:endParaRPr lang="en-US" sz="1400"/>
          </a:p>
          <a:p>
            <a:pPr>
              <a:spcAft>
                <a:spcPts val="1200"/>
              </a:spcAft>
            </a:pPr>
            <a:r>
              <a:rPr lang="en-US" sz="1400" b="0">
                <a:solidFill>
                  <a:srgbClr val="172036"/>
                </a:solidFill>
                <a:latin typeface="Arial"/>
                <a:ea typeface="PingFang SC"/>
              </a:rPr>
              <a:t>d. Chlorophyll becomes glucose</a:t>
            </a:r>
            <a:endParaRPr lang="en-US" sz="1400"/>
          </a:p>
          <a:p>
            <a:pPr>
              <a:spcAft>
                <a:spcPts val="1200"/>
              </a:spcAft>
            </a:pPr>
            <a:r>
              <a:rPr lang="en-US" sz="1400" b="0">
                <a:solidFill>
                  <a:srgbClr val="172036"/>
                </a:solidFill>
                <a:latin typeface="Arial"/>
                <a:ea typeface="PingFang SC"/>
              </a:rPr>
              <a:t>ANSWER: a. Light powers the reactions that produce ATP and NADPH. Without that supply, the Calvin cycle soon lacks the energy carriers needed to build sugars.</a:t>
            </a:r>
            <a:endParaRPr lang="en-US" sz="1400"/>
          </a:p>
          <a:p>
            <a:pPr>
              <a:spcAft>
                <a:spcPts val="1200"/>
              </a:spcAft>
            </a:pPr>
            <a:r>
              <a:rPr lang="en-US" sz="1400" b="0">
                <a:solidFill>
                  <a:srgbClr val="172036"/>
                </a:solidFill>
                <a:latin typeface="Arial"/>
                <a:ea typeface="PingFang SC"/>
              </a:rPr>
              <a:t>SOURCES</a:t>
            </a:r>
            <a:endParaRPr lang="en-US" sz="1400"/>
          </a:p>
          <a:p>
            <a:pPr>
              <a:spcAft>
                <a:spcPts val="1200"/>
              </a:spcAft>
            </a:pPr>
            <a:r>
              <a:rPr lang="en-US" sz="1400" b="0">
                <a:solidFill>
                  <a:srgbClr val="172036"/>
                </a:solidFill>
                <a:latin typeface="Arial"/>
                <a:ea typeface="PingFang SC"/>
              </a:rPr>
              <a:t>光合作用: https://zh.wikipedia.org/wiki/%E5%85%89%E5%90%88%E4%BD%9C%E7%94%A8</a:t>
            </a:r>
            <a:endParaRPr lang="en-US" sz="1400"/>
          </a:p>
          <a:p>
            <a:pPr>
              <a:spcAft>
                <a:spcPts val="1200"/>
              </a:spcAft>
            </a:pPr>
            <a:r>
              <a:rPr lang="en-US" sz="1400" b="0">
                <a:solidFill>
                  <a:srgbClr val="172036"/>
                </a:solidFill>
                <a:latin typeface="Arial"/>
                <a:ea typeface="PingFang SC"/>
              </a:rPr>
              <a:t>光合作用中心: https://zh.wikipedia.org/wiki/%E5%85%89%E5%90%88%E4%BD%9C%E7%94%A8%E4%B8%AD%E5%BF%83</a:t>
            </a:r>
            <a:endParaRPr lang="en-US" sz="1400"/>
          </a:p>
          <a:p>
            <a:pPr>
              <a:spcAft>
                <a:spcPts val="1200"/>
              </a:spcAft>
            </a:pPr>
            <a:r>
              <a:rPr lang="en-US" sz="1400" b="0">
                <a:solidFill>
                  <a:srgbClr val="172036"/>
                </a:solidFill>
                <a:latin typeface="Arial"/>
                <a:ea typeface="PingFang SC"/>
              </a:rPr>
              <a:t>植物: https://zh.wikipedia.org/wiki/%E6%A4%8D%E7%89%A9</a:t>
            </a:r>
            <a:endParaRPr lang="en-US" sz="1400"/>
          </a:p>
          <a:p>
            <a:pPr>
              <a:spcAft>
                <a:spcPts val="1200"/>
              </a:spcAft>
            </a:pPr>
            <a:r>
              <a:rPr lang="en-US" sz="1400" b="0">
                <a:solidFill>
                  <a:srgbClr val="172036"/>
                </a:solidFill>
                <a:latin typeface="Arial"/>
                <a:ea typeface="PingFang SC"/>
              </a:rPr>
              <a:t>詳細說明光合作用的過程。 - 技術教學: https://tutorialspoint.tw/p-explain-the-photosynthesis-process-in-detail-p</a:t>
            </a:r>
            <a:endParaRPr lang="en-US" sz="1400"/>
          </a:p>
          <a:p>
            <a:pPr>
              <a:spcAft>
                <a:spcPts val="1200"/>
              </a:spcAft>
            </a:pPr>
            <a:r>
              <a:rPr lang="en-US" sz="1400" b="0">
                <a:solidFill>
                  <a:srgbClr val="172036"/>
                </a:solidFill>
                <a:latin typeface="Arial"/>
                <a:ea typeface="PingFang SC"/>
              </a:rPr>
              <a:t>光合作用教學影片：以這張光合作用示意圖的植物與剖面概念為視覺參考，呈現陽光照射葉片、二氧化碳從空氣進入葉片、水分由根部向上運輸，葉綠體內進行光合作用，最後產生氧氣釋放到空氣中並形 - YouTube: https://www.youtube.com/watch?v=6BCnBB60jBk</a:t>
            </a:r>
            <a:endParaRPr lang="en-US"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aching script"/>
          <p:cNvSpPr txBox="1"/>
          <p:nvPr>
            <p:ph type="body" idx="1"/>
          </p:nvPr>
        </p:nvSpPr>
        <p:spPr>
          <a:xfrm>
            <a:off x="514350" y="952500"/>
            <a:ext cx="5829300" cy="7810500"/>
          </a:xfrm>
          <a:prstGeom prst="rect">
            <a:avLst/>
          </a:prstGeom>
          <a:noFill/>
          <a:ln>
            <a:noFill/>
          </a:ln>
        </p:spPr>
        <p:txBody>
          <a:bodyPr wrap="square" lIns="120000" tIns="50000" rIns="120000" bIns="50000">
            <a:normAutofit/>
          </a:bodyPr>
          <a:lstStyle/>
          <a:p>
            <a:pPr>
              <a:spcAft>
                <a:spcPts val="1200"/>
              </a:spcAft>
            </a:pPr>
            <a:r>
              <a:rPr lang="en-US" sz="1400" b="0">
                <a:solidFill>
                  <a:srgbClr val="172036"/>
                </a:solidFill>
                <a:latin typeface="Arial"/>
                <a:ea typeface="PingFang SC"/>
              </a:rPr>
              <a:t>The Calvin cycle takes place in the fluid-filled part of the chloroplast called the stroma. It does not directly capture light, but it depends on ATP and NADPH made by the light-dependent reactions. The cycle fixes carbon, meaning it transfers carbon atoms from carbon dioxide into small organic molecules. Some of those products can later be assembled into glucose. For a simplified worked example, six carbon dioxide molecules provide the six carbon atoms in one glucose molecule. Water contributes hydrogen and supports the light reactions. The overall bookkeeping is spoken as: six carbon dioxide plus six water, using light energy, yields one glucose plus six oxygen.</a:t>
            </a:r>
            <a:endParaRPr lang="en-US" sz="1400"/>
          </a:p>
          <a:p>
            <a:pPr>
              <a:spcAft>
                <a:spcPts val="1200"/>
              </a:spcAft>
            </a:pPr>
            <a:r>
              <a:rPr lang="en-US" sz="1400" b="0">
                <a:solidFill>
                  <a:srgbClr val="172036"/>
                </a:solidFill>
                <a:latin typeface="Arial"/>
                <a:ea typeface="PingFang SC"/>
              </a:rPr>
              <a:t>SOURCES</a:t>
            </a:r>
            <a:endParaRPr lang="en-US" sz="1400"/>
          </a:p>
          <a:p>
            <a:pPr>
              <a:spcAft>
                <a:spcPts val="1200"/>
              </a:spcAft>
            </a:pPr>
            <a:r>
              <a:rPr lang="en-US" sz="1400" b="0">
                <a:solidFill>
                  <a:srgbClr val="172036"/>
                </a:solidFill>
                <a:latin typeface="Arial"/>
                <a:ea typeface="PingFang SC"/>
              </a:rPr>
              <a:t>光合作用: https://zh.wikipedia.org/wiki/%E5%85%89%E5%90%88%E4%BD%9C%E7%94%A8</a:t>
            </a:r>
            <a:endParaRPr lang="en-US" sz="1400"/>
          </a:p>
          <a:p>
            <a:pPr>
              <a:spcAft>
                <a:spcPts val="1200"/>
              </a:spcAft>
            </a:pPr>
            <a:r>
              <a:rPr lang="en-US" sz="1400" b="0">
                <a:solidFill>
                  <a:srgbClr val="172036"/>
                </a:solidFill>
                <a:latin typeface="Arial"/>
                <a:ea typeface="PingFang SC"/>
              </a:rPr>
              <a:t>光合作用中心: https://zh.wikipedia.org/wiki/%E5%85%89%E5%90%88%E4%BD%9C%E7%94%A8%E4%B8%AD%E5%BF%83</a:t>
            </a:r>
            <a:endParaRPr lang="en-US" sz="1400"/>
          </a:p>
          <a:p>
            <a:pPr>
              <a:spcAft>
                <a:spcPts val="1200"/>
              </a:spcAft>
            </a:pPr>
            <a:r>
              <a:rPr lang="en-US" sz="1400" b="0">
                <a:solidFill>
                  <a:srgbClr val="172036"/>
                </a:solidFill>
                <a:latin typeface="Arial"/>
                <a:ea typeface="PingFang SC"/>
              </a:rPr>
              <a:t>植物: https://zh.wikipedia.org/wiki/%E6%A4%8D%E7%89%A9</a:t>
            </a:r>
            <a:endParaRPr lang="en-US" sz="1400"/>
          </a:p>
          <a:p>
            <a:pPr>
              <a:spcAft>
                <a:spcPts val="1200"/>
              </a:spcAft>
            </a:pPr>
            <a:r>
              <a:rPr lang="en-US" sz="1400" b="0">
                <a:solidFill>
                  <a:srgbClr val="172036"/>
                </a:solidFill>
                <a:latin typeface="Arial"/>
                <a:ea typeface="PingFang SC"/>
              </a:rPr>
              <a:t>詳細說明光合作用的過程。 - 技術教學: https://tutorialspoint.tw/p-explain-the-photosynthesis-process-in-detail-p</a:t>
            </a:r>
            <a:endParaRPr lang="en-US" sz="1400"/>
          </a:p>
          <a:p>
            <a:pPr>
              <a:spcAft>
                <a:spcPts val="1200"/>
              </a:spcAft>
            </a:pPr>
            <a:r>
              <a:rPr lang="en-US" sz="1400" b="0">
                <a:solidFill>
                  <a:srgbClr val="172036"/>
                </a:solidFill>
                <a:latin typeface="Arial"/>
                <a:ea typeface="PingFang SC"/>
              </a:rPr>
              <a:t>光合作用教學影片：以這張光合作用示意圖的植物與剖面概念為視覺參考，呈現陽光照射葉片、二氧化碳從空氣進入葉片、水分由根部向上運輸，葉綠體內進行光合作用，最後產生氧氣釋放到空氣中並形 - YouTube: https://www.youtube.com/watch?v=6BCnBB60jBk</a:t>
            </a:r>
            <a:endParaRPr lang="en-US"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aching script"/>
          <p:cNvSpPr txBox="1"/>
          <p:nvPr>
            <p:ph type="body" idx="1"/>
          </p:nvPr>
        </p:nvSpPr>
        <p:spPr>
          <a:xfrm>
            <a:off x="514350" y="952500"/>
            <a:ext cx="5829300" cy="7810500"/>
          </a:xfrm>
          <a:prstGeom prst="rect">
            <a:avLst/>
          </a:prstGeom>
          <a:noFill/>
          <a:ln>
            <a:noFill/>
          </a:ln>
        </p:spPr>
        <p:txBody>
          <a:bodyPr wrap="square" lIns="120000" tIns="50000" rIns="120000" bIns="50000">
            <a:normAutofit/>
          </a:bodyPr>
          <a:lstStyle/>
          <a:p>
            <a:pPr>
              <a:spcAft>
                <a:spcPts val="1200"/>
              </a:spcAft>
            </a:pPr>
            <a:r>
              <a:rPr lang="en-US" sz="1400" b="0">
                <a:solidFill>
                  <a:srgbClr val="172036"/>
                </a:solidFill>
                <a:latin typeface="Arial"/>
                <a:ea typeface="PingFang SC"/>
              </a:rPr>
              <a:t>Return to the growing pothos. Its roots absorb water and mineral nutrients such as nitrogen, magnesium, and phosphorus, but the soil is not converted wholesale into leaves and stems. Most dry plant material consists of carbon-rich compounds, and that carbon entered as carbon dioxide through the leaves. Water can account for much of a freshly weighed plant, so scientists distinguish fresh mass from dry mass. Here is a causal prediction: keep a leaf illuminated and watered, but prevent carbon dioxide from reaching it. The light reactions may operate briefly, yet the Calvin cycle lacks its carbon input. New sugar and starch production will fall despite unchanged soil.</a:t>
            </a:r>
            <a:endParaRPr lang="en-US" sz="1400"/>
          </a:p>
          <a:p>
            <a:pPr>
              <a:spcAft>
                <a:spcPts val="1200"/>
              </a:spcAft>
            </a:pPr>
            <a:r>
              <a:rPr lang="en-US" sz="1400" b="0">
                <a:solidFill>
                  <a:srgbClr val="172036"/>
                </a:solidFill>
                <a:latin typeface="Arial"/>
                <a:ea typeface="PingFang SC"/>
              </a:rPr>
              <a:t>RETRIEVAL CHECK</a:t>
            </a:r>
            <a:endParaRPr lang="en-US" sz="1400"/>
          </a:p>
          <a:p>
            <a:pPr>
              <a:spcAft>
                <a:spcPts val="1200"/>
              </a:spcAft>
            </a:pPr>
            <a:r>
              <a:rPr lang="en-US" sz="1400" b="0">
                <a:solidFill>
                  <a:srgbClr val="172036"/>
                </a:solidFill>
                <a:latin typeface="Arial"/>
                <a:ea typeface="PingFang SC"/>
              </a:rPr>
              <a:t>A watered houseplant receives bright light, but its leaves cannot take in carbon dioxide. What should happen to new sugar production?</a:t>
            </a:r>
            <a:endParaRPr lang="en-US" sz="1400"/>
          </a:p>
          <a:p>
            <a:pPr>
              <a:spcAft>
                <a:spcPts val="1200"/>
              </a:spcAft>
            </a:pPr>
            <a:r>
              <a:rPr lang="en-US" sz="1400" b="0">
                <a:solidFill>
                  <a:srgbClr val="172036"/>
                </a:solidFill>
                <a:latin typeface="Arial"/>
                <a:ea typeface="PingFang SC"/>
              </a:rPr>
              <a:t>a. It should increase because the soil replaces carbon dioxide</a:t>
            </a:r>
            <a:endParaRPr lang="en-US" sz="1400"/>
          </a:p>
          <a:p>
            <a:pPr>
              <a:spcAft>
                <a:spcPts val="1200"/>
              </a:spcAft>
            </a:pPr>
            <a:r>
              <a:rPr lang="en-US" sz="1400" b="0">
                <a:solidFill>
                  <a:srgbClr val="172036"/>
                </a:solidFill>
                <a:latin typeface="Arial"/>
                <a:ea typeface="PingFang SC"/>
              </a:rPr>
              <a:t>b. It should decrease because the Calvin cycle lacks a carbon source</a:t>
            </a:r>
            <a:endParaRPr lang="en-US" sz="1400"/>
          </a:p>
          <a:p>
            <a:pPr>
              <a:spcAft>
                <a:spcPts val="1200"/>
              </a:spcAft>
            </a:pPr>
            <a:r>
              <a:rPr lang="en-US" sz="1400" b="0">
                <a:solidFill>
                  <a:srgbClr val="172036"/>
                </a:solidFill>
                <a:latin typeface="Arial"/>
                <a:ea typeface="PingFang SC"/>
              </a:rPr>
              <a:t>c. It should remain unchanged because light becomes glucose directly</a:t>
            </a:r>
            <a:endParaRPr lang="en-US" sz="1400"/>
          </a:p>
          <a:p>
            <a:pPr>
              <a:spcAft>
                <a:spcPts val="1200"/>
              </a:spcAft>
            </a:pPr>
            <a:r>
              <a:rPr lang="en-US" sz="1400" b="0">
                <a:solidFill>
                  <a:srgbClr val="172036"/>
                </a:solidFill>
                <a:latin typeface="Arial"/>
                <a:ea typeface="PingFang SC"/>
              </a:rPr>
              <a:t>d. It should produce soil instead of sugar</a:t>
            </a:r>
            <a:endParaRPr lang="en-US" sz="1400"/>
          </a:p>
          <a:p>
            <a:pPr>
              <a:spcAft>
                <a:spcPts val="1200"/>
              </a:spcAft>
            </a:pPr>
            <a:r>
              <a:rPr lang="en-US" sz="1400" b="0">
                <a:solidFill>
                  <a:srgbClr val="172036"/>
                </a:solidFill>
                <a:latin typeface="Arial"/>
                <a:ea typeface="PingFang SC"/>
              </a:rPr>
              <a:t>ANSWER: b. The Calvin cycle uses carbon dioxide as the source of carbon atoms for new sugars. Soil minerals are essential, but they cannot replace that carbon input.</a:t>
            </a:r>
            <a:endParaRPr lang="en-US" sz="1400"/>
          </a:p>
          <a:p>
            <a:pPr>
              <a:spcAft>
                <a:spcPts val="1200"/>
              </a:spcAft>
            </a:pPr>
            <a:r>
              <a:rPr lang="en-US" sz="1400" b="0">
                <a:solidFill>
                  <a:srgbClr val="172036"/>
                </a:solidFill>
                <a:latin typeface="Arial"/>
                <a:ea typeface="PingFang SC"/>
              </a:rPr>
              <a:t>SOURCES</a:t>
            </a:r>
            <a:endParaRPr lang="en-US" sz="1400"/>
          </a:p>
          <a:p>
            <a:pPr>
              <a:spcAft>
                <a:spcPts val="1200"/>
              </a:spcAft>
            </a:pPr>
            <a:r>
              <a:rPr lang="en-US" sz="1400" b="0">
                <a:solidFill>
                  <a:srgbClr val="172036"/>
                </a:solidFill>
                <a:latin typeface="Arial"/>
                <a:ea typeface="PingFang SC"/>
              </a:rPr>
              <a:t>光合作用: https://zh.wikipedia.org/wiki/%E5%85%89%E5%90%88%E4%BD%9C%E7%94%A8</a:t>
            </a:r>
            <a:endParaRPr lang="en-US" sz="1400"/>
          </a:p>
          <a:p>
            <a:pPr>
              <a:spcAft>
                <a:spcPts val="1200"/>
              </a:spcAft>
            </a:pPr>
            <a:r>
              <a:rPr lang="en-US" sz="1400" b="0">
                <a:solidFill>
                  <a:srgbClr val="172036"/>
                </a:solidFill>
                <a:latin typeface="Arial"/>
                <a:ea typeface="PingFang SC"/>
              </a:rPr>
              <a:t>光合作用中心: https://zh.wikipedia.org/wiki/%E5%85%89%E5%90%88%E4%BD%9C%E7%94%A8%E4%B8%AD%E5%BF%83</a:t>
            </a:r>
            <a:endParaRPr lang="en-US" sz="1400"/>
          </a:p>
          <a:p>
            <a:pPr>
              <a:spcAft>
                <a:spcPts val="1200"/>
              </a:spcAft>
            </a:pPr>
            <a:r>
              <a:rPr lang="en-US" sz="1400" b="0">
                <a:solidFill>
                  <a:srgbClr val="172036"/>
                </a:solidFill>
                <a:latin typeface="Arial"/>
                <a:ea typeface="PingFang SC"/>
              </a:rPr>
              <a:t>植物: https://zh.wikipedia.org/wiki/%E6%A4%8D%E7%89%A9</a:t>
            </a:r>
            <a:endParaRPr lang="en-US" sz="1400"/>
          </a:p>
          <a:p>
            <a:pPr>
              <a:spcAft>
                <a:spcPts val="1200"/>
              </a:spcAft>
            </a:pPr>
            <a:r>
              <a:rPr lang="en-US" sz="1400" b="0">
                <a:solidFill>
                  <a:srgbClr val="172036"/>
                </a:solidFill>
                <a:latin typeface="Arial"/>
                <a:ea typeface="PingFang SC"/>
              </a:rPr>
              <a:t>詳細說明光合作用的過程。 - 技術教學: https://tutorialspoint.tw/p-explain-the-photosynthesis-process-in-detail-p</a:t>
            </a:r>
            <a:endParaRPr lang="en-US" sz="1400"/>
          </a:p>
          <a:p>
            <a:pPr>
              <a:spcAft>
                <a:spcPts val="1200"/>
              </a:spcAft>
            </a:pPr>
            <a:r>
              <a:rPr lang="en-US" sz="1400" b="0">
                <a:solidFill>
                  <a:srgbClr val="172036"/>
                </a:solidFill>
                <a:latin typeface="Arial"/>
                <a:ea typeface="PingFang SC"/>
              </a:rPr>
              <a:t>光合作用教學影片：以這張光合作用示意圖的植物與剖面概念為視覺參考，呈現陽光照射葉片、二氧化碳從空氣進入葉片、水分由根部向上運輸，葉綠體內進行光合作用，最後產生氧氣釋放到空氣中並形 - YouTube: https://www.youtube.com/watch?v=6BCnBB60jBk</a:t>
            </a:r>
            <a:endParaRPr lang="en-US"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aching script"/>
          <p:cNvSpPr txBox="1"/>
          <p:nvPr>
            <p:ph type="body" idx="1"/>
          </p:nvPr>
        </p:nvSpPr>
        <p:spPr>
          <a:xfrm>
            <a:off x="514350" y="952500"/>
            <a:ext cx="5829300" cy="7810500"/>
          </a:xfrm>
          <a:prstGeom prst="rect">
            <a:avLst/>
          </a:prstGeom>
          <a:noFill/>
          <a:ln>
            <a:noFill/>
          </a:ln>
        </p:spPr>
        <p:txBody>
          <a:bodyPr wrap="square" lIns="120000" tIns="50000" rIns="120000" bIns="50000">
            <a:normAutofit/>
          </a:bodyPr>
          <a:lstStyle/>
          <a:p>
            <a:pPr>
              <a:spcAft>
                <a:spcPts val="1200"/>
              </a:spcAft>
            </a:pPr>
            <a:r>
              <a:rPr lang="en-US" sz="1400" b="0">
                <a:solidFill>
                  <a:srgbClr val="172036"/>
                </a:solidFill>
                <a:latin typeface="Arial"/>
                <a:ea typeface="PingFang SC"/>
              </a:rPr>
              <a:t>Now trace the whole pathway. Roots supply water, and stomata admit carbon dioxide. Chlorophyll in chloroplast membranes captures light. The light-dependent reactions use water, release oxygen, and charge ATP and NADPH. The Calvin cycle uses those carriers to incorporate carbon dioxide into molecules that can become glucose. The plant can then use glucose for respiration, store it as starch, or turn it into cellulose for new structure. Notice the causal logic: increasing light cannot keep increasing photosynthesis when carbon dioxide is scarce, because the carbon-building stage lacks material. A classic next investigation compares starch accumulation in illuminated leaf areas with areas kept covered from light.</a:t>
            </a:r>
            <a:endParaRPr lang="en-US" sz="1400"/>
          </a:p>
          <a:p>
            <a:pPr>
              <a:spcAft>
                <a:spcPts val="1200"/>
              </a:spcAft>
            </a:pPr>
            <a:r>
              <a:rPr lang="en-US" sz="1400" b="0">
                <a:solidFill>
                  <a:srgbClr val="172036"/>
                </a:solidFill>
                <a:latin typeface="Arial"/>
                <a:ea typeface="PingFang SC"/>
              </a:rPr>
              <a:t>SOURCES</a:t>
            </a:r>
            <a:endParaRPr lang="en-US" sz="1400"/>
          </a:p>
          <a:p>
            <a:pPr>
              <a:spcAft>
                <a:spcPts val="1200"/>
              </a:spcAft>
            </a:pPr>
            <a:r>
              <a:rPr lang="en-US" sz="1400" b="0">
                <a:solidFill>
                  <a:srgbClr val="172036"/>
                </a:solidFill>
                <a:latin typeface="Arial"/>
                <a:ea typeface="PingFang SC"/>
              </a:rPr>
              <a:t>光合作用: https://zh.wikipedia.org/wiki/%E5%85%89%E5%90%88%E4%BD%9C%E7%94%A8</a:t>
            </a:r>
            <a:endParaRPr lang="en-US" sz="1400"/>
          </a:p>
          <a:p>
            <a:pPr>
              <a:spcAft>
                <a:spcPts val="1200"/>
              </a:spcAft>
            </a:pPr>
            <a:r>
              <a:rPr lang="en-US" sz="1400" b="0">
                <a:solidFill>
                  <a:srgbClr val="172036"/>
                </a:solidFill>
                <a:latin typeface="Arial"/>
                <a:ea typeface="PingFang SC"/>
              </a:rPr>
              <a:t>光合作用中心: https://zh.wikipedia.org/wiki/%E5%85%89%E5%90%88%E4%BD%9C%E7%94%A8%E4%B8%AD%E5%BF%83</a:t>
            </a:r>
            <a:endParaRPr lang="en-US" sz="1400"/>
          </a:p>
          <a:p>
            <a:pPr>
              <a:spcAft>
                <a:spcPts val="1200"/>
              </a:spcAft>
            </a:pPr>
            <a:r>
              <a:rPr lang="en-US" sz="1400" b="0">
                <a:solidFill>
                  <a:srgbClr val="172036"/>
                </a:solidFill>
                <a:latin typeface="Arial"/>
                <a:ea typeface="PingFang SC"/>
              </a:rPr>
              <a:t>植物: https://zh.wikipedia.org/wiki/%E6%A4%8D%E7%89%A9</a:t>
            </a:r>
            <a:endParaRPr lang="en-US" sz="1400"/>
          </a:p>
          <a:p>
            <a:pPr>
              <a:spcAft>
                <a:spcPts val="1200"/>
              </a:spcAft>
            </a:pPr>
            <a:r>
              <a:rPr lang="en-US" sz="1400" b="0">
                <a:solidFill>
                  <a:srgbClr val="172036"/>
                </a:solidFill>
                <a:latin typeface="Arial"/>
                <a:ea typeface="PingFang SC"/>
              </a:rPr>
              <a:t>詳細說明光合作用的過程。 - 技術教學: https://tutorialspoint.tw/p-explain-the-photosynthesis-process-in-detail-p</a:t>
            </a:r>
            <a:endParaRPr lang="en-US" sz="1400"/>
          </a:p>
          <a:p>
            <a:pPr>
              <a:spcAft>
                <a:spcPts val="1200"/>
              </a:spcAft>
            </a:pPr>
            <a:r>
              <a:rPr lang="en-US" sz="1400" b="0">
                <a:solidFill>
                  <a:srgbClr val="172036"/>
                </a:solidFill>
                <a:latin typeface="Arial"/>
                <a:ea typeface="PingFang SC"/>
              </a:rPr>
              <a:t>光合作用教學影片：以這張光合作用示意圖的植物與剖面概念為視覺參考，呈現陽光照射葉片、二氧化碳從空氣進入葉片、水分由根部向上運輸，葉綠體內進行光合作用，最後產生氧氣釋放到空氣中並形 - YouTube: https://www.youtube.com/watch?v=6BCnBB60jBk</a:t>
            </a:r>
            <a:endParaRPr lang="en-US" sz="1400"/>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Lumap Lesson">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425"/>
        </a:solidFill>
        <a:effectLst/>
      </p:bgPr>
    </p:bg>
    <p:spTree>
      <p:nvGrpSpPr>
        <p:cNvPr id="1" name=""/>
        <p:cNvGrpSpPr/>
        <p:nvPr/>
      </p:nvGrpSpPr>
      <p:grpSpPr>
        <a:xfrm>
          <a:off x="0" y="0"/>
          <a:ext cx="0" cy="0"/>
          <a:chOff x="0" y="0"/>
          <a:chExt cx="0" cy="0"/>
        </a:xfrm>
      </p:grpSpPr>
      <p:sp>
        <p:nvSpPr>
          <p:cNvPr id="2" name="Chapter"/>
          <p:cNvSpPr txBox="1"/>
          <p:nvPr/>
        </p:nvSpPr>
        <p:spPr>
          <a:xfrm>
            <a:off x="609600" y="419100"/>
            <a:ext cx="10477500" cy="323850"/>
          </a:xfrm>
          <a:prstGeom prst="rect">
            <a:avLst/>
          </a:prstGeom>
          <a:noFill/>
          <a:ln>
            <a:noFill/>
          </a:ln>
        </p:spPr>
        <p:txBody>
          <a:bodyPr wrap="square" lIns="120000" tIns="50000" rIns="120000" bIns="50000">
            <a:normAutofit/>
          </a:bodyPr>
          <a:lstStyle/>
          <a:p>
            <a:pPr>
              <a:spcAft>
                <a:spcPts val="1200"/>
              </a:spcAft>
            </a:pPr>
            <a:r>
              <a:rPr lang="en-US" sz="1100" b="1">
                <a:solidFill>
                  <a:srgbClr val="56D6BA"/>
                </a:solidFill>
                <a:latin typeface="Arial"/>
                <a:ea typeface="PingFang SC"/>
              </a:rPr>
              <a:t>LUMAP  /  THE MOTIVATING MYSTERY</a:t>
            </a:r>
            <a:endParaRPr lang="en-US" sz="1100"/>
          </a:p>
        </p:txBody>
      </p:sp>
      <p:sp>
        <p:nvSpPr>
          <p:cNvPr id="3" name="Title"/>
          <p:cNvSpPr txBox="1"/>
          <p:nvPr/>
        </p:nvSpPr>
        <p:spPr>
          <a:xfrm>
            <a:off x="609600" y="904875"/>
            <a:ext cx="10858500" cy="1276350"/>
          </a:xfrm>
          <a:prstGeom prst="rect">
            <a:avLst/>
          </a:prstGeom>
          <a:noFill/>
          <a:ln>
            <a:noFill/>
          </a:ln>
        </p:spPr>
        <p:txBody>
          <a:bodyPr wrap="square" lIns="120000" tIns="50000" rIns="120000" bIns="50000">
            <a:normAutofit/>
          </a:bodyPr>
          <a:lstStyle/>
          <a:p>
            <a:pPr>
              <a:spcAft>
                <a:spcPts val="1200"/>
              </a:spcAft>
            </a:pPr>
            <a:r>
              <a:rPr lang="en-US" sz="3400" b="1">
                <a:solidFill>
                  <a:srgbClr val="F5F7FC"/>
                </a:solidFill>
                <a:latin typeface="Arial"/>
                <a:ea typeface="PingFang SC"/>
              </a:rPr>
              <a:t>Where does a growing houseplant come from?</a:t>
            </a:r>
            <a:endParaRPr lang="en-US" sz="3400"/>
          </a:p>
        </p:txBody>
      </p:sp>
      <p:sp>
        <p:nvSpPr>
          <p:cNvPr id="4" name="Learning points"/>
          <p:cNvSpPr txBox="1"/>
          <p:nvPr/>
        </p:nvSpPr>
        <p:spPr>
          <a:xfrm>
            <a:off x="609600" y="2400300"/>
            <a:ext cx="5810250" cy="3200400"/>
          </a:xfrm>
          <a:prstGeom prst="rect">
            <a:avLst/>
          </a:prstGeom>
          <a:noFill/>
          <a:ln>
            <a:noFill/>
          </a:ln>
        </p:spPr>
        <p:txBody>
          <a:bodyPr wrap="square" lIns="120000" tIns="50000" rIns="120000" bIns="50000">
            <a:normAutofit/>
          </a:bodyPr>
          <a:lstStyle/>
          <a:p>
            <a:pPr>
              <a:spcAft>
                <a:spcPts val="1200"/>
              </a:spcAft>
            </a:pPr>
            <a:r>
              <a:rPr lang="en-US" sz="2200" b="0">
                <a:solidFill>
                  <a:srgbClr val="D5DCEE"/>
                </a:solidFill>
                <a:latin typeface="Arial"/>
                <a:ea typeface="PingFang SC"/>
              </a:rPr>
              <a:t>•  Most new dry plant mass comes from carbon dioxide in the air</a:t>
            </a:r>
            <a:endParaRPr lang="en-US" sz="2200"/>
          </a:p>
          <a:p>
            <a:pPr>
              <a:spcAft>
                <a:spcPts val="1200"/>
              </a:spcAft>
            </a:pPr>
            <a:r>
              <a:rPr lang="en-US" sz="2200" b="0">
                <a:solidFill>
                  <a:srgbClr val="D5DCEE"/>
                </a:solidFill>
                <a:latin typeface="Arial"/>
                <a:ea typeface="PingFang SC"/>
              </a:rPr>
              <a:t>•  Water supplies matter; light supplies energy</a:t>
            </a:r>
            <a:endParaRPr lang="en-US" sz="2200"/>
          </a:p>
          <a:p>
            <a:pPr>
              <a:spcAft>
                <a:spcPts val="1200"/>
              </a:spcAft>
            </a:pPr>
            <a:r>
              <a:rPr lang="en-US" sz="2200" b="0">
                <a:solidFill>
                  <a:srgbClr val="D5DCEE"/>
                </a:solidFill>
                <a:latin typeface="Arial"/>
                <a:ea typeface="PingFang SC"/>
              </a:rPr>
              <a:t>•  Goal: trace matter and energy through a leaf</a:t>
            </a:r>
            <a:endParaRPr lang="en-US" sz="2200"/>
          </a:p>
        </p:txBody>
      </p:sp>
      <p:sp>
        <p:nvSpPr>
          <p:cNvPr id="5" name="Concept"/>
          <p:cNvSpPr txBox="1"/>
          <p:nvPr/>
        </p:nvSpPr>
        <p:spPr>
          <a:xfrm>
            <a:off x="6953250" y="2362200"/>
            <a:ext cx="4629150" cy="2495550"/>
          </a:xfrm>
          <a:prstGeom prst="rect">
            <a:avLst/>
          </a:prstGeom>
          <a:solidFill>
            <a:srgbClr val="142B3C"/>
          </a:solidFill>
          <a:ln>
            <a:noFill/>
          </a:ln>
        </p:spPr>
        <p:txBody>
          <a:bodyPr wrap="square" lIns="120000" tIns="50000" rIns="120000" bIns="50000">
            <a:normAutofit/>
          </a:bodyPr>
          <a:lstStyle/>
          <a:p>
            <a:pPr>
              <a:spcAft>
                <a:spcPts val="1200"/>
              </a:spcAft>
            </a:pPr>
            <a:r>
              <a:rPr lang="en-US" sz="2300" b="1">
                <a:solidFill>
                  <a:srgbClr val="E5FFF5"/>
                </a:solidFill>
                <a:latin typeface="Arial"/>
                <a:ea typeface="PingFang SC"/>
              </a:rPr>
              <a:t>Growing houseplant</a:t>
            </a:r>
            <a:endParaRPr lang="en-US" sz="2300"/>
          </a:p>
          <a:p>
            <a:pPr>
              <a:spcAft>
                <a:spcPts val="1200"/>
              </a:spcAft>
            </a:pPr>
            <a:r>
              <a:rPr lang="en-US" sz="2300" b="1">
                <a:solidFill>
                  <a:srgbClr val="E5FFF5"/>
                </a:solidFill>
                <a:latin typeface="Arial"/>
                <a:ea typeface="PingFang SC"/>
              </a:rPr>
              <a:t>↓</a:t>
            </a:r>
            <a:endParaRPr lang="en-US" sz="2300"/>
          </a:p>
          <a:p>
            <a:pPr>
              <a:spcAft>
                <a:spcPts val="1200"/>
              </a:spcAft>
            </a:pPr>
            <a:r>
              <a:rPr lang="en-US" sz="2300" b="1">
                <a:solidFill>
                  <a:srgbClr val="E5FFF5"/>
                </a:solidFill>
                <a:latin typeface="Arial"/>
                <a:ea typeface="PingFang SC"/>
              </a:rPr>
              <a:t>Air and water become plant material</a:t>
            </a:r>
            <a:endParaRPr lang="en-US" sz="2300"/>
          </a:p>
        </p:txBody>
      </p:sp>
      <p:sp>
        <p:nvSpPr>
          <p:cNvPr id="7" name="Page number"/>
          <p:cNvSpPr txBox="1"/>
          <p:nvPr/>
        </p:nvSpPr>
        <p:spPr>
          <a:xfrm>
            <a:off x="609600" y="6477000"/>
            <a:ext cx="10953750" cy="228600"/>
          </a:xfrm>
          <a:prstGeom prst="rect">
            <a:avLst/>
          </a:prstGeom>
          <a:noFill/>
          <a:ln>
            <a:noFill/>
          </a:ln>
        </p:spPr>
        <p:txBody>
          <a:bodyPr wrap="square" lIns="120000" tIns="50000" rIns="120000" bIns="50000">
            <a:normAutofit/>
          </a:bodyPr>
          <a:lstStyle/>
          <a:p>
            <a:pPr>
              <a:spcAft>
                <a:spcPts val="1200"/>
              </a:spcAft>
            </a:pPr>
            <a:r>
              <a:rPr lang="en-US" sz="850" b="0">
                <a:solidFill>
                  <a:srgbClr val="91A0BD"/>
                </a:solidFill>
                <a:latin typeface="Arial"/>
                <a:ea typeface="PingFang SC"/>
              </a:rPr>
              <a:t>CELESTIAL FRONTIER                                                        1 / 6</a:t>
            </a:r>
            <a:endParaRPr lang="en-US" sz="8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425"/>
        </a:solidFill>
        <a:effectLst/>
      </p:bgPr>
    </p:bg>
    <p:spTree>
      <p:nvGrpSpPr>
        <p:cNvPr id="1" name=""/>
        <p:cNvGrpSpPr/>
        <p:nvPr/>
      </p:nvGrpSpPr>
      <p:grpSpPr>
        <a:xfrm>
          <a:off x="0" y="0"/>
          <a:ext cx="0" cy="0"/>
          <a:chOff x="0" y="0"/>
          <a:chExt cx="0" cy="0"/>
        </a:xfrm>
      </p:grpSpPr>
      <p:sp>
        <p:nvSpPr>
          <p:cNvPr id="2" name="Chapter"/>
          <p:cNvSpPr txBox="1"/>
          <p:nvPr/>
        </p:nvSpPr>
        <p:spPr>
          <a:xfrm>
            <a:off x="609600" y="419100"/>
            <a:ext cx="10477500" cy="323850"/>
          </a:xfrm>
          <a:prstGeom prst="rect">
            <a:avLst/>
          </a:prstGeom>
          <a:noFill/>
          <a:ln>
            <a:noFill/>
          </a:ln>
        </p:spPr>
        <p:txBody>
          <a:bodyPr wrap="square" lIns="120000" tIns="50000" rIns="120000" bIns="50000">
            <a:normAutofit/>
          </a:bodyPr>
          <a:lstStyle/>
          <a:p>
            <a:pPr>
              <a:spcAft>
                <a:spcPts val="1200"/>
              </a:spcAft>
            </a:pPr>
            <a:r>
              <a:rPr lang="en-US" sz="1100" b="1">
                <a:solidFill>
                  <a:srgbClr val="56D6BA"/>
                </a:solidFill>
                <a:latin typeface="Arial"/>
                <a:ea typeface="PingFang SC"/>
              </a:rPr>
              <a:t>LUMAP  /  ESSENTIAL PARTS</a:t>
            </a:r>
            <a:endParaRPr lang="en-US" sz="1100"/>
          </a:p>
        </p:txBody>
      </p:sp>
      <p:sp>
        <p:nvSpPr>
          <p:cNvPr id="3" name="Title"/>
          <p:cNvSpPr txBox="1"/>
          <p:nvPr/>
        </p:nvSpPr>
        <p:spPr>
          <a:xfrm>
            <a:off x="609600" y="904875"/>
            <a:ext cx="10858500" cy="1276350"/>
          </a:xfrm>
          <a:prstGeom prst="rect">
            <a:avLst/>
          </a:prstGeom>
          <a:noFill/>
          <a:ln>
            <a:noFill/>
          </a:ln>
        </p:spPr>
        <p:txBody>
          <a:bodyPr wrap="square" lIns="120000" tIns="50000" rIns="120000" bIns="50000">
            <a:normAutofit/>
          </a:bodyPr>
          <a:lstStyle/>
          <a:p>
            <a:pPr>
              <a:spcAft>
                <a:spcPts val="1200"/>
              </a:spcAft>
            </a:pPr>
            <a:r>
              <a:rPr lang="en-US" sz="3400" b="1">
                <a:solidFill>
                  <a:srgbClr val="F5F7FC"/>
                </a:solidFill>
                <a:latin typeface="Arial"/>
                <a:ea typeface="PingFang SC"/>
              </a:rPr>
              <a:t>Meet the inputs and the leaf’s solar workshops</a:t>
            </a:r>
            <a:endParaRPr lang="en-US" sz="3400"/>
          </a:p>
        </p:txBody>
      </p:sp>
      <p:sp>
        <p:nvSpPr>
          <p:cNvPr id="4" name="Learning points"/>
          <p:cNvSpPr txBox="1"/>
          <p:nvPr/>
        </p:nvSpPr>
        <p:spPr>
          <a:xfrm>
            <a:off x="609600" y="2400300"/>
            <a:ext cx="5810250" cy="3200400"/>
          </a:xfrm>
          <a:prstGeom prst="rect">
            <a:avLst/>
          </a:prstGeom>
          <a:noFill/>
          <a:ln>
            <a:noFill/>
          </a:ln>
        </p:spPr>
        <p:txBody>
          <a:bodyPr wrap="square" lIns="120000" tIns="50000" rIns="120000" bIns="50000">
            <a:normAutofit/>
          </a:bodyPr>
          <a:lstStyle/>
          <a:p>
            <a:pPr>
              <a:spcAft>
                <a:spcPts val="1200"/>
              </a:spcAft>
            </a:pPr>
            <a:r>
              <a:rPr lang="en-US" sz="2200" b="0">
                <a:solidFill>
                  <a:srgbClr val="D5DCEE"/>
                </a:solidFill>
                <a:latin typeface="Arial"/>
                <a:ea typeface="PingFang SC"/>
              </a:rPr>
              <a:t>•  Carbon dioxide enters leaves; water travels upward from roots</a:t>
            </a:r>
            <a:endParaRPr lang="en-US" sz="2200"/>
          </a:p>
          <a:p>
            <a:pPr>
              <a:spcAft>
                <a:spcPts val="1200"/>
              </a:spcAft>
            </a:pPr>
            <a:r>
              <a:rPr lang="en-US" sz="2200" b="0">
                <a:solidFill>
                  <a:srgbClr val="D5DCEE"/>
                </a:solidFill>
                <a:latin typeface="Arial"/>
                <a:ea typeface="PingFang SC"/>
              </a:rPr>
              <a:t>•  Chloroplasts are structures inside many leaf cells</a:t>
            </a:r>
            <a:endParaRPr lang="en-US" sz="2200"/>
          </a:p>
          <a:p>
            <a:pPr>
              <a:spcAft>
                <a:spcPts val="1200"/>
              </a:spcAft>
            </a:pPr>
            <a:r>
              <a:rPr lang="en-US" sz="2200" b="0">
                <a:solidFill>
                  <a:srgbClr val="D5DCEE"/>
                </a:solidFill>
                <a:latin typeface="Arial"/>
                <a:ea typeface="PingFang SC"/>
              </a:rPr>
              <a:t>•  Chlorophyll is a light-absorbing pigment inside chloroplasts</a:t>
            </a:r>
            <a:endParaRPr lang="en-US" sz="2200"/>
          </a:p>
          <a:p>
            <a:pPr>
              <a:spcAft>
                <a:spcPts val="1200"/>
              </a:spcAft>
            </a:pPr>
            <a:r>
              <a:rPr lang="en-US" sz="2200" b="0">
                <a:solidFill>
                  <a:srgbClr val="D5DCEE"/>
                </a:solidFill>
                <a:latin typeface="Arial"/>
                <a:ea typeface="PingFang SC"/>
              </a:rPr>
              <a:t>•  Glucose is an energy-rich sugar used to build and fuel the plant</a:t>
            </a:r>
            <a:endParaRPr lang="en-US" sz="2200"/>
          </a:p>
        </p:txBody>
      </p:sp>
      <p:sp>
        <p:nvSpPr>
          <p:cNvPr id="5" name="Concept"/>
          <p:cNvSpPr txBox="1"/>
          <p:nvPr/>
        </p:nvSpPr>
        <p:spPr>
          <a:xfrm>
            <a:off x="6953250" y="2362200"/>
            <a:ext cx="4629150" cy="2495550"/>
          </a:xfrm>
          <a:prstGeom prst="rect">
            <a:avLst/>
          </a:prstGeom>
          <a:solidFill>
            <a:srgbClr val="142B3C"/>
          </a:solidFill>
          <a:ln>
            <a:noFill/>
          </a:ln>
        </p:spPr>
        <p:txBody>
          <a:bodyPr wrap="square" lIns="120000" tIns="50000" rIns="120000" bIns="50000">
            <a:normAutofit/>
          </a:bodyPr>
          <a:lstStyle/>
          <a:p>
            <a:pPr>
              <a:spcAft>
                <a:spcPts val="1200"/>
              </a:spcAft>
            </a:pPr>
            <a:r>
              <a:rPr lang="en-US" sz="2300" b="1">
                <a:solidFill>
                  <a:srgbClr val="E5FFF5"/>
                </a:solidFill>
                <a:latin typeface="Arial"/>
                <a:ea typeface="PingFang SC"/>
              </a:rPr>
              <a:t>Chloroplast</a:t>
            </a:r>
            <a:endParaRPr lang="en-US" sz="2300"/>
          </a:p>
          <a:p>
            <a:pPr>
              <a:spcAft>
                <a:spcPts val="1200"/>
              </a:spcAft>
            </a:pPr>
            <a:r>
              <a:rPr lang="en-US" sz="2300" b="1">
                <a:solidFill>
                  <a:srgbClr val="E5FFF5"/>
                </a:solidFill>
                <a:latin typeface="Arial"/>
                <a:ea typeface="PingFang SC"/>
              </a:rPr>
              <a:t>↓</a:t>
            </a:r>
            <a:endParaRPr lang="en-US" sz="2300"/>
          </a:p>
          <a:p>
            <a:pPr>
              <a:spcAft>
                <a:spcPts val="1200"/>
              </a:spcAft>
            </a:pPr>
            <a:r>
              <a:rPr lang="en-US" sz="2300" b="1">
                <a:solidFill>
                  <a:srgbClr val="E5FFF5"/>
                </a:solidFill>
                <a:latin typeface="Arial"/>
                <a:ea typeface="PingFang SC"/>
              </a:rPr>
              <a:t>Carbon dioxide + water + captured light</a:t>
            </a:r>
            <a:endParaRPr lang="en-US" sz="2300"/>
          </a:p>
        </p:txBody>
      </p:sp>
      <p:sp>
        <p:nvSpPr>
          <p:cNvPr id="7" name="Page number"/>
          <p:cNvSpPr txBox="1"/>
          <p:nvPr/>
        </p:nvSpPr>
        <p:spPr>
          <a:xfrm>
            <a:off x="609600" y="6477000"/>
            <a:ext cx="10953750" cy="228600"/>
          </a:xfrm>
          <a:prstGeom prst="rect">
            <a:avLst/>
          </a:prstGeom>
          <a:noFill/>
          <a:ln>
            <a:noFill/>
          </a:ln>
        </p:spPr>
        <p:txBody>
          <a:bodyPr wrap="square" lIns="120000" tIns="50000" rIns="120000" bIns="50000">
            <a:normAutofit/>
          </a:bodyPr>
          <a:lstStyle/>
          <a:p>
            <a:pPr>
              <a:spcAft>
                <a:spcPts val="1200"/>
              </a:spcAft>
            </a:pPr>
            <a:r>
              <a:rPr lang="en-US" sz="850" b="0">
                <a:solidFill>
                  <a:srgbClr val="91A0BD"/>
                </a:solidFill>
                <a:latin typeface="Arial"/>
                <a:ea typeface="PingFang SC"/>
              </a:rPr>
              <a:t>CELESTIAL FRONTIER                                                        2 / 6</a:t>
            </a:r>
            <a:endParaRPr lang="en-US" sz="8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425"/>
        </a:solidFill>
        <a:effectLst/>
      </p:bgPr>
    </p:bg>
    <p:spTree>
      <p:nvGrpSpPr>
        <p:cNvPr id="1" name=""/>
        <p:cNvGrpSpPr/>
        <p:nvPr/>
      </p:nvGrpSpPr>
      <p:grpSpPr>
        <a:xfrm>
          <a:off x="0" y="0"/>
          <a:ext cx="0" cy="0"/>
          <a:chOff x="0" y="0"/>
          <a:chExt cx="0" cy="0"/>
        </a:xfrm>
      </p:grpSpPr>
      <p:sp>
        <p:nvSpPr>
          <p:cNvPr id="2" name="Chapter"/>
          <p:cNvSpPr txBox="1"/>
          <p:nvPr/>
        </p:nvSpPr>
        <p:spPr>
          <a:xfrm>
            <a:off x="609600" y="419100"/>
            <a:ext cx="10477500" cy="323850"/>
          </a:xfrm>
          <a:prstGeom prst="rect">
            <a:avLst/>
          </a:prstGeom>
          <a:noFill/>
          <a:ln>
            <a:noFill/>
          </a:ln>
        </p:spPr>
        <p:txBody>
          <a:bodyPr wrap="square" lIns="120000" tIns="50000" rIns="120000" bIns="50000">
            <a:normAutofit/>
          </a:bodyPr>
          <a:lstStyle/>
          <a:p>
            <a:pPr>
              <a:spcAft>
                <a:spcPts val="1200"/>
              </a:spcAft>
            </a:pPr>
            <a:r>
              <a:rPr lang="en-US" sz="1100" b="1">
                <a:solidFill>
                  <a:srgbClr val="56D6BA"/>
                </a:solidFill>
                <a:latin typeface="Arial"/>
                <a:ea typeface="PingFang SC"/>
              </a:rPr>
              <a:t>LUMAP  /  STAGE ONE</a:t>
            </a:r>
            <a:endParaRPr lang="en-US" sz="1100"/>
          </a:p>
        </p:txBody>
      </p:sp>
      <p:sp>
        <p:nvSpPr>
          <p:cNvPr id="3" name="Title"/>
          <p:cNvSpPr txBox="1"/>
          <p:nvPr/>
        </p:nvSpPr>
        <p:spPr>
          <a:xfrm>
            <a:off x="609600" y="904875"/>
            <a:ext cx="10858500" cy="1276350"/>
          </a:xfrm>
          <a:prstGeom prst="rect">
            <a:avLst/>
          </a:prstGeom>
          <a:noFill/>
          <a:ln>
            <a:noFill/>
          </a:ln>
        </p:spPr>
        <p:txBody>
          <a:bodyPr wrap="square" lIns="120000" tIns="50000" rIns="120000" bIns="50000">
            <a:normAutofit/>
          </a:bodyPr>
          <a:lstStyle/>
          <a:p>
            <a:pPr>
              <a:spcAft>
                <a:spcPts val="1200"/>
              </a:spcAft>
            </a:pPr>
            <a:r>
              <a:rPr lang="en-US" sz="3400" b="1">
                <a:solidFill>
                  <a:srgbClr val="F5F7FC"/>
                </a:solidFill>
                <a:latin typeface="Arial"/>
                <a:ea typeface="PingFang SC"/>
              </a:rPr>
              <a:t>Light-dependent reactions charge the system</a:t>
            </a:r>
            <a:endParaRPr lang="en-US" sz="3400"/>
          </a:p>
        </p:txBody>
      </p:sp>
      <p:sp>
        <p:nvSpPr>
          <p:cNvPr id="4" name="Learning points"/>
          <p:cNvSpPr txBox="1"/>
          <p:nvPr/>
        </p:nvSpPr>
        <p:spPr>
          <a:xfrm>
            <a:off x="609600" y="2400300"/>
            <a:ext cx="5810250" cy="3200400"/>
          </a:xfrm>
          <a:prstGeom prst="rect">
            <a:avLst/>
          </a:prstGeom>
          <a:noFill/>
          <a:ln>
            <a:noFill/>
          </a:ln>
        </p:spPr>
        <p:txBody>
          <a:bodyPr wrap="square" lIns="120000" tIns="50000" rIns="120000" bIns="50000">
            <a:normAutofit/>
          </a:bodyPr>
          <a:lstStyle/>
          <a:p>
            <a:pPr>
              <a:spcAft>
                <a:spcPts val="1200"/>
              </a:spcAft>
            </a:pPr>
            <a:r>
              <a:rPr lang="en-US" sz="2200" b="0">
                <a:solidFill>
                  <a:srgbClr val="D5DCEE"/>
                </a:solidFill>
                <a:latin typeface="Arial"/>
                <a:ea typeface="PingFang SC"/>
              </a:rPr>
              <a:t>•  Chlorophyll captures light in chloroplast membranes</a:t>
            </a:r>
            <a:endParaRPr lang="en-US" sz="2200"/>
          </a:p>
          <a:p>
            <a:pPr>
              <a:spcAft>
                <a:spcPts val="1200"/>
              </a:spcAft>
            </a:pPr>
            <a:r>
              <a:rPr lang="en-US" sz="2200" b="0">
                <a:solidFill>
                  <a:srgbClr val="D5DCEE"/>
                </a:solidFill>
                <a:latin typeface="Arial"/>
                <a:ea typeface="PingFang SC"/>
              </a:rPr>
              <a:t>•  Light energy helps split water and release oxygen</a:t>
            </a:r>
            <a:endParaRPr lang="en-US" sz="2200"/>
          </a:p>
          <a:p>
            <a:pPr>
              <a:spcAft>
                <a:spcPts val="1200"/>
              </a:spcAft>
            </a:pPr>
            <a:r>
              <a:rPr lang="en-US" sz="2200" b="0">
                <a:solidFill>
                  <a:srgbClr val="D5DCEE"/>
                </a:solidFill>
                <a:latin typeface="Arial"/>
                <a:ea typeface="PingFang SC"/>
              </a:rPr>
              <a:t>•  ATP and NADPH temporarily carry usable energy</a:t>
            </a:r>
            <a:endParaRPr lang="en-US" sz="2200"/>
          </a:p>
          <a:p>
            <a:pPr>
              <a:spcAft>
                <a:spcPts val="1200"/>
              </a:spcAft>
            </a:pPr>
            <a:r>
              <a:rPr lang="en-US" sz="2200" b="0">
                <a:solidFill>
                  <a:srgbClr val="D5DCEE"/>
                </a:solidFill>
                <a:latin typeface="Arial"/>
                <a:ea typeface="PingFang SC"/>
              </a:rPr>
              <a:t>•  Causal check 1: removing light stops this energy supply</a:t>
            </a:r>
            <a:endParaRPr lang="en-US" sz="2200"/>
          </a:p>
        </p:txBody>
      </p:sp>
      <p:sp>
        <p:nvSpPr>
          <p:cNvPr id="5" name="Concept"/>
          <p:cNvSpPr txBox="1"/>
          <p:nvPr/>
        </p:nvSpPr>
        <p:spPr>
          <a:xfrm>
            <a:off x="6953250" y="2362200"/>
            <a:ext cx="4629150" cy="2495550"/>
          </a:xfrm>
          <a:prstGeom prst="rect">
            <a:avLst/>
          </a:prstGeom>
          <a:solidFill>
            <a:srgbClr val="142B3C"/>
          </a:solidFill>
          <a:ln>
            <a:noFill/>
          </a:ln>
        </p:spPr>
        <p:txBody>
          <a:bodyPr wrap="square" lIns="120000" tIns="50000" rIns="120000" bIns="50000">
            <a:normAutofit/>
          </a:bodyPr>
          <a:lstStyle/>
          <a:p>
            <a:pPr>
              <a:spcAft>
                <a:spcPts val="1200"/>
              </a:spcAft>
            </a:pPr>
            <a:r>
              <a:rPr lang="en-US" sz="2300" b="1">
                <a:solidFill>
                  <a:srgbClr val="E5FFF5"/>
                </a:solidFill>
                <a:latin typeface="Arial"/>
                <a:ea typeface="PingFang SC"/>
              </a:rPr>
              <a:t>Light-dependent reactions</a:t>
            </a:r>
            <a:endParaRPr lang="en-US" sz="2300"/>
          </a:p>
          <a:p>
            <a:pPr>
              <a:spcAft>
                <a:spcPts val="1200"/>
              </a:spcAft>
            </a:pPr>
            <a:r>
              <a:rPr lang="en-US" sz="2300" b="1">
                <a:solidFill>
                  <a:srgbClr val="E5FFF5"/>
                </a:solidFill>
                <a:latin typeface="Arial"/>
                <a:ea typeface="PingFang SC"/>
              </a:rPr>
              <a:t>↓</a:t>
            </a:r>
            <a:endParaRPr lang="en-US" sz="2300"/>
          </a:p>
          <a:p>
            <a:pPr>
              <a:spcAft>
                <a:spcPts val="1200"/>
              </a:spcAft>
            </a:pPr>
            <a:r>
              <a:rPr lang="en-US" sz="2300" b="1">
                <a:solidFill>
                  <a:srgbClr val="E5FFF5"/>
                </a:solidFill>
                <a:latin typeface="Arial"/>
                <a:ea typeface="PingFang SC"/>
              </a:rPr>
              <a:t>Water → oxygen + energy carriers</a:t>
            </a:r>
            <a:endParaRPr lang="en-US" sz="2300"/>
          </a:p>
        </p:txBody>
      </p:sp>
      <p:sp>
        <p:nvSpPr>
          <p:cNvPr id="6" name="Retrieval question"/>
          <p:cNvSpPr txBox="1"/>
          <p:nvPr/>
        </p:nvSpPr>
        <p:spPr>
          <a:xfrm>
            <a:off x="609600" y="5753100"/>
            <a:ext cx="10953750" cy="619125"/>
          </a:xfrm>
          <a:prstGeom prst="rect">
            <a:avLst/>
          </a:prstGeom>
          <a:noFill/>
          <a:ln>
            <a:noFill/>
          </a:ln>
        </p:spPr>
        <p:txBody>
          <a:bodyPr wrap="square" lIns="120000" tIns="50000" rIns="120000" bIns="50000">
            <a:normAutofit/>
          </a:bodyPr>
          <a:lstStyle/>
          <a:p>
            <a:pPr>
              <a:spcAft>
                <a:spcPts val="1200"/>
              </a:spcAft>
            </a:pPr>
            <a:r>
              <a:rPr lang="en-US" sz="1300" b="0">
                <a:solidFill>
                  <a:srgbClr val="8BE4CE"/>
                </a:solidFill>
                <a:latin typeface="Arial"/>
                <a:ea typeface="PingFang SC"/>
              </a:rPr>
              <a:t>PAUSE &amp; THINK  ·  A healthy leaf is placed in darkness while water and carbon dioxide remain available. What is the most direct initial effect?</a:t>
            </a:r>
            <a:endParaRPr lang="en-US" sz="1300"/>
          </a:p>
        </p:txBody>
      </p:sp>
      <p:sp>
        <p:nvSpPr>
          <p:cNvPr id="7" name="Page number"/>
          <p:cNvSpPr txBox="1"/>
          <p:nvPr/>
        </p:nvSpPr>
        <p:spPr>
          <a:xfrm>
            <a:off x="609600" y="6477000"/>
            <a:ext cx="10953750" cy="228600"/>
          </a:xfrm>
          <a:prstGeom prst="rect">
            <a:avLst/>
          </a:prstGeom>
          <a:noFill/>
          <a:ln>
            <a:noFill/>
          </a:ln>
        </p:spPr>
        <p:txBody>
          <a:bodyPr wrap="square" lIns="120000" tIns="50000" rIns="120000" bIns="50000">
            <a:normAutofit/>
          </a:bodyPr>
          <a:lstStyle/>
          <a:p>
            <a:pPr>
              <a:spcAft>
                <a:spcPts val="1200"/>
              </a:spcAft>
            </a:pPr>
            <a:r>
              <a:rPr lang="en-US" sz="850" b="0">
                <a:solidFill>
                  <a:srgbClr val="91A0BD"/>
                </a:solidFill>
                <a:latin typeface="Arial"/>
                <a:ea typeface="PingFang SC"/>
              </a:rPr>
              <a:t>CELESTIAL FRONTIER                                                        3 / 6</a:t>
            </a:r>
            <a:endParaRPr lang="en-US" sz="8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425"/>
        </a:solidFill>
        <a:effectLst/>
      </p:bgPr>
    </p:bg>
    <p:spTree>
      <p:nvGrpSpPr>
        <p:cNvPr id="1" name=""/>
        <p:cNvGrpSpPr/>
        <p:nvPr/>
      </p:nvGrpSpPr>
      <p:grpSpPr>
        <a:xfrm>
          <a:off x="0" y="0"/>
          <a:ext cx="0" cy="0"/>
          <a:chOff x="0" y="0"/>
          <a:chExt cx="0" cy="0"/>
        </a:xfrm>
      </p:grpSpPr>
      <p:sp>
        <p:nvSpPr>
          <p:cNvPr id="2" name="Chapter"/>
          <p:cNvSpPr txBox="1"/>
          <p:nvPr/>
        </p:nvSpPr>
        <p:spPr>
          <a:xfrm>
            <a:off x="609600" y="419100"/>
            <a:ext cx="10477500" cy="323850"/>
          </a:xfrm>
          <a:prstGeom prst="rect">
            <a:avLst/>
          </a:prstGeom>
          <a:noFill/>
          <a:ln>
            <a:noFill/>
          </a:ln>
        </p:spPr>
        <p:txBody>
          <a:bodyPr wrap="square" lIns="120000" tIns="50000" rIns="120000" bIns="50000">
            <a:normAutofit/>
          </a:bodyPr>
          <a:lstStyle/>
          <a:p>
            <a:pPr>
              <a:spcAft>
                <a:spcPts val="1200"/>
              </a:spcAft>
            </a:pPr>
            <a:r>
              <a:rPr lang="en-US" sz="1100" b="1">
                <a:solidFill>
                  <a:srgbClr val="56D6BA"/>
                </a:solidFill>
                <a:latin typeface="Arial"/>
                <a:ea typeface="PingFang SC"/>
              </a:rPr>
              <a:t>LUMAP  /  STAGE TWO AND WORKED EXAMPLE</a:t>
            </a:r>
            <a:endParaRPr lang="en-US" sz="1100"/>
          </a:p>
        </p:txBody>
      </p:sp>
      <p:sp>
        <p:nvSpPr>
          <p:cNvPr id="3" name="Title"/>
          <p:cNvSpPr txBox="1"/>
          <p:nvPr/>
        </p:nvSpPr>
        <p:spPr>
          <a:xfrm>
            <a:off x="609600" y="904875"/>
            <a:ext cx="10858500" cy="1276350"/>
          </a:xfrm>
          <a:prstGeom prst="rect">
            <a:avLst/>
          </a:prstGeom>
          <a:noFill/>
          <a:ln>
            <a:noFill/>
          </a:ln>
        </p:spPr>
        <p:txBody>
          <a:bodyPr wrap="square" lIns="120000" tIns="50000" rIns="120000" bIns="50000">
            <a:normAutofit/>
          </a:bodyPr>
          <a:lstStyle/>
          <a:p>
            <a:pPr>
              <a:spcAft>
                <a:spcPts val="1200"/>
              </a:spcAft>
            </a:pPr>
            <a:r>
              <a:rPr lang="en-US" sz="3400" b="1">
                <a:solidFill>
                  <a:srgbClr val="F5F7FC"/>
                </a:solidFill>
                <a:latin typeface="Arial"/>
                <a:ea typeface="PingFang SC"/>
              </a:rPr>
              <a:t>The Calvin cycle builds carbon compounds</a:t>
            </a:r>
            <a:endParaRPr lang="en-US" sz="3400"/>
          </a:p>
        </p:txBody>
      </p:sp>
      <p:sp>
        <p:nvSpPr>
          <p:cNvPr id="4" name="Learning points"/>
          <p:cNvSpPr txBox="1"/>
          <p:nvPr/>
        </p:nvSpPr>
        <p:spPr>
          <a:xfrm>
            <a:off x="609600" y="2400300"/>
            <a:ext cx="5810250" cy="3200400"/>
          </a:xfrm>
          <a:prstGeom prst="rect">
            <a:avLst/>
          </a:prstGeom>
          <a:noFill/>
          <a:ln>
            <a:noFill/>
          </a:ln>
        </p:spPr>
        <p:txBody>
          <a:bodyPr wrap="square" lIns="120000" tIns="50000" rIns="120000" bIns="50000">
            <a:normAutofit/>
          </a:bodyPr>
          <a:lstStyle/>
          <a:p>
            <a:pPr>
              <a:spcAft>
                <a:spcPts val="1200"/>
              </a:spcAft>
            </a:pPr>
            <a:r>
              <a:rPr lang="en-US" sz="2200" b="0">
                <a:solidFill>
                  <a:srgbClr val="D5DCEE"/>
                </a:solidFill>
                <a:latin typeface="Arial"/>
                <a:ea typeface="PingFang SC"/>
              </a:rPr>
              <a:t>•  The Calvin cycle occurs in the chloroplast’s fluid-filled stroma</a:t>
            </a:r>
            <a:endParaRPr lang="en-US" sz="2200"/>
          </a:p>
          <a:p>
            <a:pPr>
              <a:spcAft>
                <a:spcPts val="1200"/>
              </a:spcAft>
            </a:pPr>
            <a:r>
              <a:rPr lang="en-US" sz="2200" b="0">
                <a:solidFill>
                  <a:srgbClr val="D5DCEE"/>
                </a:solidFill>
                <a:latin typeface="Arial"/>
                <a:ea typeface="PingFang SC"/>
              </a:rPr>
              <a:t>•  It incorporates carbon from carbon dioxide into small carbon compounds</a:t>
            </a:r>
            <a:endParaRPr lang="en-US" sz="2200"/>
          </a:p>
          <a:p>
            <a:pPr>
              <a:spcAft>
                <a:spcPts val="1200"/>
              </a:spcAft>
            </a:pPr>
            <a:r>
              <a:rPr lang="en-US" sz="2200" b="0">
                <a:solidFill>
                  <a:srgbClr val="D5DCEE"/>
                </a:solidFill>
                <a:latin typeface="Arial"/>
                <a:ea typeface="PingFang SC"/>
              </a:rPr>
              <a:t>•  ATP and NADPH power the cycle; some products can form glucose</a:t>
            </a:r>
            <a:endParaRPr lang="en-US" sz="2200"/>
          </a:p>
          <a:p>
            <a:pPr>
              <a:spcAft>
                <a:spcPts val="1200"/>
              </a:spcAft>
            </a:pPr>
            <a:r>
              <a:rPr lang="en-US" sz="2200" b="0">
                <a:solidFill>
                  <a:srgbClr val="D5DCEE"/>
                </a:solidFill>
                <a:latin typeface="Arial"/>
                <a:ea typeface="PingFang SC"/>
              </a:rPr>
              <a:t>•  Overall summary: 6 CO₂ + 6 H₂O + light → C₆H₁₂O₆ + 6 O₂</a:t>
            </a:r>
            <a:endParaRPr lang="en-US" sz="2200"/>
          </a:p>
        </p:txBody>
      </p:sp>
      <p:sp>
        <p:nvSpPr>
          <p:cNvPr id="5" name="Concept"/>
          <p:cNvSpPr txBox="1"/>
          <p:nvPr/>
        </p:nvSpPr>
        <p:spPr>
          <a:xfrm>
            <a:off x="6953250" y="2362200"/>
            <a:ext cx="4629150" cy="2495550"/>
          </a:xfrm>
          <a:prstGeom prst="rect">
            <a:avLst/>
          </a:prstGeom>
          <a:solidFill>
            <a:srgbClr val="142B3C"/>
          </a:solidFill>
          <a:ln>
            <a:noFill/>
          </a:ln>
        </p:spPr>
        <p:txBody>
          <a:bodyPr wrap="square" lIns="120000" tIns="50000" rIns="120000" bIns="50000">
            <a:normAutofit/>
          </a:bodyPr>
          <a:lstStyle/>
          <a:p>
            <a:pPr>
              <a:spcAft>
                <a:spcPts val="1200"/>
              </a:spcAft>
            </a:pPr>
            <a:r>
              <a:rPr lang="en-US" sz="2300" b="1">
                <a:solidFill>
                  <a:srgbClr val="E5FFF5"/>
                </a:solidFill>
                <a:latin typeface="Arial"/>
                <a:ea typeface="PingFang SC"/>
              </a:rPr>
              <a:t>Calvin cycle</a:t>
            </a:r>
            <a:endParaRPr lang="en-US" sz="2300"/>
          </a:p>
          <a:p>
            <a:pPr>
              <a:spcAft>
                <a:spcPts val="1200"/>
              </a:spcAft>
            </a:pPr>
            <a:r>
              <a:rPr lang="en-US" sz="2300" b="1">
                <a:solidFill>
                  <a:srgbClr val="E5FFF5"/>
                </a:solidFill>
                <a:latin typeface="Arial"/>
                <a:ea typeface="PingFang SC"/>
              </a:rPr>
              <a:t>↓</a:t>
            </a:r>
            <a:endParaRPr lang="en-US" sz="2300"/>
          </a:p>
          <a:p>
            <a:pPr>
              <a:spcAft>
                <a:spcPts val="1200"/>
              </a:spcAft>
            </a:pPr>
            <a:r>
              <a:rPr lang="en-US" sz="2300" b="1">
                <a:solidFill>
                  <a:srgbClr val="E5FFF5"/>
                </a:solidFill>
                <a:latin typeface="Arial"/>
                <a:ea typeface="PingFang SC"/>
              </a:rPr>
              <a:t>Carbon dioxide → carbon compounds → glucose</a:t>
            </a:r>
            <a:endParaRPr lang="en-US" sz="2300"/>
          </a:p>
        </p:txBody>
      </p:sp>
      <p:sp>
        <p:nvSpPr>
          <p:cNvPr id="7" name="Page number"/>
          <p:cNvSpPr txBox="1"/>
          <p:nvPr/>
        </p:nvSpPr>
        <p:spPr>
          <a:xfrm>
            <a:off x="609600" y="6477000"/>
            <a:ext cx="10953750" cy="228600"/>
          </a:xfrm>
          <a:prstGeom prst="rect">
            <a:avLst/>
          </a:prstGeom>
          <a:noFill/>
          <a:ln>
            <a:noFill/>
          </a:ln>
        </p:spPr>
        <p:txBody>
          <a:bodyPr wrap="square" lIns="120000" tIns="50000" rIns="120000" bIns="50000">
            <a:normAutofit/>
          </a:bodyPr>
          <a:lstStyle/>
          <a:p>
            <a:pPr>
              <a:spcAft>
                <a:spcPts val="1200"/>
              </a:spcAft>
            </a:pPr>
            <a:r>
              <a:rPr lang="en-US" sz="850" b="0">
                <a:solidFill>
                  <a:srgbClr val="91A0BD"/>
                </a:solidFill>
                <a:latin typeface="Arial"/>
                <a:ea typeface="PingFang SC"/>
              </a:rPr>
              <a:t>CELESTIAL FRONTIER                                                        4 / 6</a:t>
            </a:r>
            <a:endParaRPr lang="en-US" sz="8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425"/>
        </a:solidFill>
        <a:effectLst/>
      </p:bgPr>
    </p:bg>
    <p:spTree>
      <p:nvGrpSpPr>
        <p:cNvPr id="1" name=""/>
        <p:cNvGrpSpPr/>
        <p:nvPr/>
      </p:nvGrpSpPr>
      <p:grpSpPr>
        <a:xfrm>
          <a:off x="0" y="0"/>
          <a:ext cx="0" cy="0"/>
          <a:chOff x="0" y="0"/>
          <a:chExt cx="0" cy="0"/>
        </a:xfrm>
      </p:grpSpPr>
      <p:sp>
        <p:nvSpPr>
          <p:cNvPr id="2" name="Chapter"/>
          <p:cNvSpPr txBox="1"/>
          <p:nvPr/>
        </p:nvSpPr>
        <p:spPr>
          <a:xfrm>
            <a:off x="609600" y="419100"/>
            <a:ext cx="10477500" cy="323850"/>
          </a:xfrm>
          <a:prstGeom prst="rect">
            <a:avLst/>
          </a:prstGeom>
          <a:noFill/>
          <a:ln>
            <a:noFill/>
          </a:ln>
        </p:spPr>
        <p:txBody>
          <a:bodyPr wrap="square" lIns="120000" tIns="50000" rIns="120000" bIns="50000">
            <a:normAutofit/>
          </a:bodyPr>
          <a:lstStyle/>
          <a:p>
            <a:pPr>
              <a:spcAft>
                <a:spcPts val="1200"/>
              </a:spcAft>
            </a:pPr>
            <a:r>
              <a:rPr lang="en-US" sz="1100" b="1">
                <a:solidFill>
                  <a:srgbClr val="56D6BA"/>
                </a:solidFill>
                <a:latin typeface="Arial"/>
                <a:ea typeface="PingFang SC"/>
              </a:rPr>
              <a:t>LUMAP  /  MASS MISCONCEPTION</a:t>
            </a:r>
            <a:endParaRPr lang="en-US" sz="1100"/>
          </a:p>
        </p:txBody>
      </p:sp>
      <p:sp>
        <p:nvSpPr>
          <p:cNvPr id="3" name="Title"/>
          <p:cNvSpPr txBox="1"/>
          <p:nvPr/>
        </p:nvSpPr>
        <p:spPr>
          <a:xfrm>
            <a:off x="609600" y="904875"/>
            <a:ext cx="10858500" cy="1276350"/>
          </a:xfrm>
          <a:prstGeom prst="rect">
            <a:avLst/>
          </a:prstGeom>
          <a:noFill/>
          <a:ln>
            <a:noFill/>
          </a:ln>
        </p:spPr>
        <p:txBody>
          <a:bodyPr wrap="square" lIns="120000" tIns="50000" rIns="120000" bIns="50000">
            <a:normAutofit/>
          </a:bodyPr>
          <a:lstStyle/>
          <a:p>
            <a:pPr>
              <a:spcAft>
                <a:spcPts val="1200"/>
              </a:spcAft>
            </a:pPr>
            <a:r>
              <a:rPr lang="en-US" sz="3400" b="1">
                <a:solidFill>
                  <a:srgbClr val="F5F7FC"/>
                </a:solidFill>
                <a:latin typeface="Arial"/>
                <a:ea typeface="PingFang SC"/>
              </a:rPr>
              <a:t>A plant does not mostly eat its soil</a:t>
            </a:r>
            <a:endParaRPr lang="en-US" sz="3400"/>
          </a:p>
        </p:txBody>
      </p:sp>
      <p:sp>
        <p:nvSpPr>
          <p:cNvPr id="4" name="Learning points"/>
          <p:cNvSpPr txBox="1"/>
          <p:nvPr/>
        </p:nvSpPr>
        <p:spPr>
          <a:xfrm>
            <a:off x="609600" y="2400300"/>
            <a:ext cx="5810250" cy="3200400"/>
          </a:xfrm>
          <a:prstGeom prst="rect">
            <a:avLst/>
          </a:prstGeom>
          <a:noFill/>
          <a:ln>
            <a:noFill/>
          </a:ln>
        </p:spPr>
        <p:txBody>
          <a:bodyPr wrap="square" lIns="120000" tIns="50000" rIns="120000" bIns="50000">
            <a:normAutofit/>
          </a:bodyPr>
          <a:lstStyle/>
          <a:p>
            <a:pPr>
              <a:spcAft>
                <a:spcPts val="1200"/>
              </a:spcAft>
            </a:pPr>
            <a:r>
              <a:rPr lang="en-US" sz="2200" b="0">
                <a:solidFill>
                  <a:srgbClr val="D5DCEE"/>
                </a:solidFill>
                <a:latin typeface="Arial"/>
                <a:ea typeface="PingFang SC"/>
              </a:rPr>
              <a:t>•  Air supplies most carbon in a plant’s dry material</a:t>
            </a:r>
            <a:endParaRPr lang="en-US" sz="2200"/>
          </a:p>
          <a:p>
            <a:pPr>
              <a:spcAft>
                <a:spcPts val="1200"/>
              </a:spcAft>
            </a:pPr>
            <a:r>
              <a:rPr lang="en-US" sz="2200" b="0">
                <a:solidFill>
                  <a:srgbClr val="D5DCEE"/>
                </a:solidFill>
                <a:latin typeface="Arial"/>
                <a:ea typeface="PingFang SC"/>
              </a:rPr>
              <a:t>•  Soil supplies water and small amounts of essential minerals</a:t>
            </a:r>
            <a:endParaRPr lang="en-US" sz="2200"/>
          </a:p>
          <a:p>
            <a:pPr>
              <a:spcAft>
                <a:spcPts val="1200"/>
              </a:spcAft>
            </a:pPr>
            <a:r>
              <a:rPr lang="en-US" sz="2200" b="0">
                <a:solidFill>
                  <a:srgbClr val="D5DCEE"/>
                </a:solidFill>
                <a:latin typeface="Arial"/>
                <a:ea typeface="PingFang SC"/>
              </a:rPr>
              <a:t>•  Fresh mass includes much water; dry mass reveals built material</a:t>
            </a:r>
            <a:endParaRPr lang="en-US" sz="2200"/>
          </a:p>
          <a:p>
            <a:pPr>
              <a:spcAft>
                <a:spcPts val="1200"/>
              </a:spcAft>
            </a:pPr>
            <a:r>
              <a:rPr lang="en-US" sz="2200" b="0">
                <a:solidFill>
                  <a:srgbClr val="D5DCEE"/>
                </a:solidFill>
                <a:latin typeface="Arial"/>
                <a:ea typeface="PingFang SC"/>
              </a:rPr>
              <a:t>•  Causal check 2: blocking carbon dioxide limits new sugar</a:t>
            </a:r>
            <a:endParaRPr lang="en-US" sz="2200"/>
          </a:p>
        </p:txBody>
      </p:sp>
      <p:sp>
        <p:nvSpPr>
          <p:cNvPr id="5" name="Concept"/>
          <p:cNvSpPr txBox="1"/>
          <p:nvPr/>
        </p:nvSpPr>
        <p:spPr>
          <a:xfrm>
            <a:off x="6953250" y="2362200"/>
            <a:ext cx="4629150" cy="2495550"/>
          </a:xfrm>
          <a:prstGeom prst="rect">
            <a:avLst/>
          </a:prstGeom>
          <a:solidFill>
            <a:srgbClr val="142B3C"/>
          </a:solidFill>
          <a:ln>
            <a:noFill/>
          </a:ln>
        </p:spPr>
        <p:txBody>
          <a:bodyPr wrap="square" lIns="120000" tIns="50000" rIns="120000" bIns="50000">
            <a:normAutofit/>
          </a:bodyPr>
          <a:lstStyle/>
          <a:p>
            <a:pPr>
              <a:spcAft>
                <a:spcPts val="1200"/>
              </a:spcAft>
            </a:pPr>
            <a:r>
              <a:rPr lang="en-US" sz="2300" b="1">
                <a:solidFill>
                  <a:srgbClr val="E5FFF5"/>
                </a:solidFill>
                <a:latin typeface="Arial"/>
                <a:ea typeface="PingFang SC"/>
              </a:rPr>
              <a:t>Air to plant mass</a:t>
            </a:r>
            <a:endParaRPr lang="en-US" sz="2300"/>
          </a:p>
          <a:p>
            <a:pPr>
              <a:spcAft>
                <a:spcPts val="1200"/>
              </a:spcAft>
            </a:pPr>
            <a:r>
              <a:rPr lang="en-US" sz="2300" b="1">
                <a:solidFill>
                  <a:srgbClr val="E5FFF5"/>
                </a:solidFill>
                <a:latin typeface="Arial"/>
                <a:ea typeface="PingFang SC"/>
              </a:rPr>
              <a:t>↓</a:t>
            </a:r>
            <a:endParaRPr lang="en-US" sz="2300"/>
          </a:p>
          <a:p>
            <a:pPr>
              <a:spcAft>
                <a:spcPts val="1200"/>
              </a:spcAft>
            </a:pPr>
            <a:r>
              <a:rPr lang="en-US" sz="2300" b="1">
                <a:solidFill>
                  <a:srgbClr val="E5FFF5"/>
                </a:solidFill>
                <a:latin typeface="Arial"/>
                <a:ea typeface="PingFang SC"/>
              </a:rPr>
              <a:t>Carbon dioxide supplies carbon</a:t>
            </a:r>
            <a:endParaRPr lang="en-US" sz="2300"/>
          </a:p>
        </p:txBody>
      </p:sp>
      <p:sp>
        <p:nvSpPr>
          <p:cNvPr id="6" name="Retrieval question"/>
          <p:cNvSpPr txBox="1"/>
          <p:nvPr/>
        </p:nvSpPr>
        <p:spPr>
          <a:xfrm>
            <a:off x="609600" y="5753100"/>
            <a:ext cx="10953750" cy="619125"/>
          </a:xfrm>
          <a:prstGeom prst="rect">
            <a:avLst/>
          </a:prstGeom>
          <a:noFill/>
          <a:ln>
            <a:noFill/>
          </a:ln>
        </p:spPr>
        <p:txBody>
          <a:bodyPr wrap="square" lIns="120000" tIns="50000" rIns="120000" bIns="50000">
            <a:normAutofit/>
          </a:bodyPr>
          <a:lstStyle/>
          <a:p>
            <a:pPr>
              <a:spcAft>
                <a:spcPts val="1200"/>
              </a:spcAft>
            </a:pPr>
            <a:r>
              <a:rPr lang="en-US" sz="1300" b="0">
                <a:solidFill>
                  <a:srgbClr val="8BE4CE"/>
                </a:solidFill>
                <a:latin typeface="Arial"/>
                <a:ea typeface="PingFang SC"/>
              </a:rPr>
              <a:t>PAUSE &amp; THINK  ·  A watered houseplant receives bright light, but its leaves cannot take in carbon dioxide. What should happen to new sugar production?</a:t>
            </a:r>
            <a:endParaRPr lang="en-US" sz="1300"/>
          </a:p>
        </p:txBody>
      </p:sp>
      <p:sp>
        <p:nvSpPr>
          <p:cNvPr id="7" name="Page number"/>
          <p:cNvSpPr txBox="1"/>
          <p:nvPr/>
        </p:nvSpPr>
        <p:spPr>
          <a:xfrm>
            <a:off x="609600" y="6477000"/>
            <a:ext cx="10953750" cy="228600"/>
          </a:xfrm>
          <a:prstGeom prst="rect">
            <a:avLst/>
          </a:prstGeom>
          <a:noFill/>
          <a:ln>
            <a:noFill/>
          </a:ln>
        </p:spPr>
        <p:txBody>
          <a:bodyPr wrap="square" lIns="120000" tIns="50000" rIns="120000" bIns="50000">
            <a:normAutofit/>
          </a:bodyPr>
          <a:lstStyle/>
          <a:p>
            <a:pPr>
              <a:spcAft>
                <a:spcPts val="1200"/>
              </a:spcAft>
            </a:pPr>
            <a:r>
              <a:rPr lang="en-US" sz="850" b="0">
                <a:solidFill>
                  <a:srgbClr val="91A0BD"/>
                </a:solidFill>
                <a:latin typeface="Arial"/>
                <a:ea typeface="PingFang SC"/>
              </a:rPr>
              <a:t>CELESTIAL FRONTIER                                                        5 / 6</a:t>
            </a:r>
            <a:endParaRPr lang="en-US" sz="8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425"/>
        </a:solidFill>
        <a:effectLst/>
      </p:bgPr>
    </p:bg>
    <p:spTree>
      <p:nvGrpSpPr>
        <p:cNvPr id="1" name=""/>
        <p:cNvGrpSpPr/>
        <p:nvPr/>
      </p:nvGrpSpPr>
      <p:grpSpPr>
        <a:xfrm>
          <a:off x="0" y="0"/>
          <a:ext cx="0" cy="0"/>
          <a:chOff x="0" y="0"/>
          <a:chExt cx="0" cy="0"/>
        </a:xfrm>
      </p:grpSpPr>
      <p:sp>
        <p:nvSpPr>
          <p:cNvPr id="2" name="Chapter"/>
          <p:cNvSpPr txBox="1"/>
          <p:nvPr/>
        </p:nvSpPr>
        <p:spPr>
          <a:xfrm>
            <a:off x="609600" y="419100"/>
            <a:ext cx="10477500" cy="323850"/>
          </a:xfrm>
          <a:prstGeom prst="rect">
            <a:avLst/>
          </a:prstGeom>
          <a:noFill/>
          <a:ln>
            <a:noFill/>
          </a:ln>
        </p:spPr>
        <p:txBody>
          <a:bodyPr wrap="square" lIns="120000" tIns="50000" rIns="120000" bIns="50000">
            <a:normAutofit/>
          </a:bodyPr>
          <a:lstStyle/>
          <a:p>
            <a:pPr>
              <a:spcAft>
                <a:spcPts val="1200"/>
              </a:spcAft>
            </a:pPr>
            <a:r>
              <a:rPr lang="en-US" sz="1100" b="1">
                <a:solidFill>
                  <a:srgbClr val="56D6BA"/>
                </a:solidFill>
                <a:latin typeface="Arial"/>
                <a:ea typeface="PingFang SC"/>
              </a:rPr>
              <a:t>LUMAP  /  RETRIEVE AND INVESTIGATE</a:t>
            </a:r>
            <a:endParaRPr lang="en-US" sz="1100"/>
          </a:p>
        </p:txBody>
      </p:sp>
      <p:sp>
        <p:nvSpPr>
          <p:cNvPr id="3" name="Title"/>
          <p:cNvSpPr txBox="1"/>
          <p:nvPr/>
        </p:nvSpPr>
        <p:spPr>
          <a:xfrm>
            <a:off x="609600" y="904875"/>
            <a:ext cx="10858500" cy="1276350"/>
          </a:xfrm>
          <a:prstGeom prst="rect">
            <a:avLst/>
          </a:prstGeom>
          <a:noFill/>
          <a:ln>
            <a:noFill/>
          </a:ln>
        </p:spPr>
        <p:txBody>
          <a:bodyPr wrap="square" lIns="120000" tIns="50000" rIns="120000" bIns="50000">
            <a:normAutofit/>
          </a:bodyPr>
          <a:lstStyle/>
          <a:p>
            <a:pPr>
              <a:spcAft>
                <a:spcPts val="1200"/>
              </a:spcAft>
            </a:pPr>
            <a:r>
              <a:rPr lang="en-US" sz="3400" b="1">
                <a:solidFill>
                  <a:srgbClr val="F5F7FC"/>
                </a:solidFill>
                <a:latin typeface="Arial"/>
                <a:ea typeface="PingFang SC"/>
              </a:rPr>
              <a:t>Trace the complete pathway</a:t>
            </a:r>
            <a:endParaRPr lang="en-US" sz="3400"/>
          </a:p>
        </p:txBody>
      </p:sp>
      <p:sp>
        <p:nvSpPr>
          <p:cNvPr id="4" name="Learning points"/>
          <p:cNvSpPr txBox="1"/>
          <p:nvPr/>
        </p:nvSpPr>
        <p:spPr>
          <a:xfrm>
            <a:off x="609600" y="2400300"/>
            <a:ext cx="5810250" cy="3200400"/>
          </a:xfrm>
          <a:prstGeom prst="rect">
            <a:avLst/>
          </a:prstGeom>
          <a:noFill/>
          <a:ln>
            <a:noFill/>
          </a:ln>
        </p:spPr>
        <p:txBody>
          <a:bodyPr wrap="square" lIns="120000" tIns="50000" rIns="120000" bIns="50000">
            <a:normAutofit/>
          </a:bodyPr>
          <a:lstStyle/>
          <a:p>
            <a:pPr>
              <a:spcAft>
                <a:spcPts val="1200"/>
              </a:spcAft>
            </a:pPr>
            <a:r>
              <a:rPr lang="en-US" sz="2200" b="0">
                <a:solidFill>
                  <a:srgbClr val="D5DCEE"/>
                </a:solidFill>
                <a:latin typeface="Arial"/>
                <a:ea typeface="PingFang SC"/>
              </a:rPr>
              <a:t>•  Matter path: water and carbon dioxide become carbon compounds and oxygen</a:t>
            </a:r>
            <a:endParaRPr lang="en-US" sz="2200"/>
          </a:p>
          <a:p>
            <a:pPr>
              <a:spcAft>
                <a:spcPts val="1200"/>
              </a:spcAft>
            </a:pPr>
            <a:r>
              <a:rPr lang="en-US" sz="2200" b="0">
                <a:solidFill>
                  <a:srgbClr val="D5DCEE"/>
                </a:solidFill>
                <a:latin typeface="Arial"/>
                <a:ea typeface="PingFang SC"/>
              </a:rPr>
              <a:t>•  Energy path: light → ATP and NADPH → chemical energy in sugars</a:t>
            </a:r>
            <a:endParaRPr lang="en-US" sz="2200"/>
          </a:p>
          <a:p>
            <a:pPr>
              <a:spcAft>
                <a:spcPts val="1200"/>
              </a:spcAft>
            </a:pPr>
            <a:r>
              <a:rPr lang="en-US" sz="2200" b="0">
                <a:solidFill>
                  <a:srgbClr val="D5DCEE"/>
                </a:solidFill>
                <a:latin typeface="Arial"/>
                <a:ea typeface="PingFang SC"/>
              </a:rPr>
              <a:t>•  Prediction: more light cannot fully help when carbon dioxide is limiting</a:t>
            </a:r>
            <a:endParaRPr lang="en-US" sz="2200"/>
          </a:p>
          <a:p>
            <a:pPr>
              <a:spcAft>
                <a:spcPts val="1200"/>
              </a:spcAft>
            </a:pPr>
            <a:r>
              <a:rPr lang="en-US" sz="2200" b="0">
                <a:solidFill>
                  <a:srgbClr val="D5DCEE"/>
                </a:solidFill>
                <a:latin typeface="Arial"/>
                <a:ea typeface="PingFang SC"/>
              </a:rPr>
              <a:t>•  Next step: compare starch formation in illuminated and covered leaves</a:t>
            </a:r>
            <a:endParaRPr lang="en-US" sz="2200"/>
          </a:p>
        </p:txBody>
      </p:sp>
      <p:sp>
        <p:nvSpPr>
          <p:cNvPr id="5" name="Concept"/>
          <p:cNvSpPr txBox="1"/>
          <p:nvPr/>
        </p:nvSpPr>
        <p:spPr>
          <a:xfrm>
            <a:off x="6953250" y="2362200"/>
            <a:ext cx="4629150" cy="2495550"/>
          </a:xfrm>
          <a:prstGeom prst="rect">
            <a:avLst/>
          </a:prstGeom>
          <a:solidFill>
            <a:srgbClr val="142B3C"/>
          </a:solidFill>
          <a:ln>
            <a:noFill/>
          </a:ln>
        </p:spPr>
        <p:txBody>
          <a:bodyPr wrap="square" lIns="120000" tIns="50000" rIns="120000" bIns="50000">
            <a:normAutofit/>
          </a:bodyPr>
          <a:lstStyle/>
          <a:p>
            <a:pPr>
              <a:spcAft>
                <a:spcPts val="1200"/>
              </a:spcAft>
            </a:pPr>
            <a:r>
              <a:rPr lang="en-US" sz="2300" b="1">
                <a:solidFill>
                  <a:srgbClr val="E5FFF5"/>
                </a:solidFill>
                <a:latin typeface="Arial"/>
                <a:ea typeface="PingFang SC"/>
              </a:rPr>
              <a:t>Matter plus energy</a:t>
            </a:r>
            <a:endParaRPr lang="en-US" sz="2300"/>
          </a:p>
          <a:p>
            <a:pPr>
              <a:spcAft>
                <a:spcPts val="1200"/>
              </a:spcAft>
            </a:pPr>
            <a:r>
              <a:rPr lang="en-US" sz="2300" b="1">
                <a:solidFill>
                  <a:srgbClr val="E5FFF5"/>
                </a:solidFill>
                <a:latin typeface="Arial"/>
                <a:ea typeface="PingFang SC"/>
              </a:rPr>
              <a:t>↓</a:t>
            </a:r>
            <a:endParaRPr lang="en-US" sz="2300"/>
          </a:p>
          <a:p>
            <a:pPr>
              <a:spcAft>
                <a:spcPts val="1200"/>
              </a:spcAft>
            </a:pPr>
            <a:r>
              <a:rPr lang="en-US" sz="2300" b="1">
                <a:solidFill>
                  <a:srgbClr val="E5FFF5"/>
                </a:solidFill>
                <a:latin typeface="Arial"/>
                <a:ea typeface="PingFang SC"/>
              </a:rPr>
              <a:t>From air and light to living tissue</a:t>
            </a:r>
            <a:endParaRPr lang="en-US" sz="2300"/>
          </a:p>
        </p:txBody>
      </p:sp>
      <p:sp>
        <p:nvSpPr>
          <p:cNvPr id="7" name="Page number"/>
          <p:cNvSpPr txBox="1"/>
          <p:nvPr/>
        </p:nvSpPr>
        <p:spPr>
          <a:xfrm>
            <a:off x="609600" y="6477000"/>
            <a:ext cx="10953750" cy="228600"/>
          </a:xfrm>
          <a:prstGeom prst="rect">
            <a:avLst/>
          </a:prstGeom>
          <a:noFill/>
          <a:ln>
            <a:noFill/>
          </a:ln>
        </p:spPr>
        <p:txBody>
          <a:bodyPr wrap="square" lIns="120000" tIns="50000" rIns="120000" bIns="50000">
            <a:normAutofit/>
          </a:bodyPr>
          <a:lstStyle/>
          <a:p>
            <a:pPr>
              <a:spcAft>
                <a:spcPts val="1200"/>
              </a:spcAft>
            </a:pPr>
            <a:r>
              <a:rPr lang="en-US" sz="850" b="0">
                <a:solidFill>
                  <a:srgbClr val="91A0BD"/>
                </a:solidFill>
                <a:latin typeface="Arial"/>
                <a:ea typeface="PingFang SC"/>
              </a:rPr>
              <a:t>CELESTIAL FRONTIER                                                        6 / 6</a:t>
            </a:r>
            <a:endParaRPr lang="en-US" sz="850"/>
          </a:p>
        </p:txBody>
      </p:sp>
    </p:spTree>
  </p:cSld>
  <p:clrMapOvr>
    <a:masterClrMapping/>
  </p:clrMapOvr>
</p:sld>
</file>

<file path=ppt/theme/theme1.xml><?xml version="1.0" encoding="utf-8"?>
<a:theme xmlns:a="http://schemas.openxmlformats.org/drawingml/2006/main" name="Lumap">
  <a:themeElements>
    <a:clrScheme name="Lumap">
      <a:dk1>
        <a:srgbClr val="0D1425"/>
      </a:dk1>
      <a:lt1>
        <a:srgbClr val="FFFFFF"/>
      </a:lt1>
      <a:dk2>
        <a:srgbClr val="172036"/>
      </a:dk2>
      <a:lt2>
        <a:srgbClr val="F5F7FC"/>
      </a:lt2>
      <a:accent1>
        <a:srgbClr val="56D6BA"/>
      </a:accent1>
      <a:accent2>
        <a:srgbClr val="8174FF"/>
      </a:accent2>
      <a:accent3>
        <a:srgbClr val="5695E9"/>
      </a:accent3>
      <a:accent4>
        <a:srgbClr val="F0C574"/>
      </a:accent4>
      <a:accent5>
        <a:srgbClr val="EC8AB1"/>
      </a:accent5>
      <a:accent6>
        <a:srgbClr val="91A0BD"/>
      </a:accent6>
      <a:hlink>
        <a:srgbClr val="8174FF"/>
      </a:hlink>
      <a:folHlink>
        <a:srgbClr val="56D6BA"/>
      </a:folHlink>
    </a:clrScheme>
    <a:fontScheme name="Lumap">
      <a:majorFont>
        <a:latin typeface="Arial"/>
        <a:ea typeface="PingFang SC"/>
        <a:cs typeface=""/>
      </a:majorFont>
      <a:minorFont>
        <a:latin typeface="Arial"/>
        <a:ea typeface="PingFang SC"/>
        <a:cs typeface=""/>
      </a:minorFont>
    </a:fontScheme>
    <a:fmtScheme name="Lumap">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Lumap</Application>
  <PresentationFormat>On-screen Show (16:9)</PresentationFormat>
  <Slides>6</Slides>
  <Notes>6</Notes>
</Properties>
</file>

<file path=docProps/core.xml><?xml version="1.0" encoding="utf-8"?>
<cp:coreProperties xmlns:cp="http://schemas.openxmlformats.org/package/2006/metadata/core-properties" xmlns:dc="http://purl.org/dc/elements/1.1/">
  <dc:title>Photosynthesis: Building a Plant from Air and Water</dc:title>
  <dc:creator>Lumap · Celestial Frontier</dc:creator>
  <dc:description>Follow matter and energy through a houseplant leaf</dc:description>
</cp:coreProperties>
</file>